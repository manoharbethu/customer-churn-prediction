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sldIdLst>
    <p:sldId id="256" r:id="rId2"/>
    <p:sldId id="258" r:id="rId3"/>
    <p:sldId id="259" r:id="rId4"/>
    <p:sldId id="260" r:id="rId5"/>
    <p:sldId id="261" r:id="rId6"/>
    <p:sldId id="263" r:id="rId7"/>
    <p:sldId id="265" r:id="rId8"/>
    <p:sldId id="266"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696D6D1-793E-4DA2-87ED-962869761207}"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26DD179-5E14-4872-9F74-9673A142535E}">
      <dgm:prSet/>
      <dgm:spPr>
        <a:solidFill>
          <a:schemeClr val="tx1">
            <a:lumMod val="65000"/>
            <a:lumOff val="35000"/>
          </a:schemeClr>
        </a:solidFill>
      </dgm:spPr>
      <dgm:t>
        <a:bodyPr/>
        <a:lstStyle/>
        <a:p>
          <a:r>
            <a:rPr lang="en-US" b="1" i="0" dirty="0"/>
            <a:t>Exploratory data analysis (EDA) method was used in this study to analyze the data. </a:t>
          </a:r>
          <a:endParaRPr lang="en-US" dirty="0"/>
        </a:p>
      </dgm:t>
    </dgm:pt>
    <dgm:pt modelId="{A7140613-CE74-45E8-86A9-8BFACAE4AD6E}" type="parTrans" cxnId="{096CA365-613A-452B-986A-7A34BD2CF915}">
      <dgm:prSet/>
      <dgm:spPr/>
      <dgm:t>
        <a:bodyPr/>
        <a:lstStyle/>
        <a:p>
          <a:endParaRPr lang="en-US"/>
        </a:p>
      </dgm:t>
    </dgm:pt>
    <dgm:pt modelId="{95D7CABB-6C8A-4B2E-B79D-AA85A757D751}" type="sibTrans" cxnId="{096CA365-613A-452B-986A-7A34BD2CF915}">
      <dgm:prSet/>
      <dgm:spPr/>
      <dgm:t>
        <a:bodyPr/>
        <a:lstStyle/>
        <a:p>
          <a:endParaRPr lang="en-US"/>
        </a:p>
      </dgm:t>
    </dgm:pt>
    <dgm:pt modelId="{6FB3ABD1-C0B8-474A-90B1-17E300B6D16E}">
      <dgm:prSet/>
      <dgm:spPr>
        <a:solidFill>
          <a:schemeClr val="tx1">
            <a:lumMod val="50000"/>
            <a:lumOff val="50000"/>
          </a:schemeClr>
        </a:solidFill>
      </dgm:spPr>
      <dgm:t>
        <a:bodyPr/>
        <a:lstStyle/>
        <a:p>
          <a:r>
            <a:rPr lang="en-US" b="1" i="0"/>
            <a:t>Customer was the control variable</a:t>
          </a:r>
          <a:endParaRPr lang="en-US"/>
        </a:p>
      </dgm:t>
    </dgm:pt>
    <dgm:pt modelId="{0822BAD1-5B5C-44E3-BAA9-4A1533739167}" type="parTrans" cxnId="{C4535023-39AE-4431-A861-7B6B85F86954}">
      <dgm:prSet/>
      <dgm:spPr/>
      <dgm:t>
        <a:bodyPr/>
        <a:lstStyle/>
        <a:p>
          <a:endParaRPr lang="en-US"/>
        </a:p>
      </dgm:t>
    </dgm:pt>
    <dgm:pt modelId="{3D5843D5-727F-4140-9E1E-8F4C5A172098}" type="sibTrans" cxnId="{C4535023-39AE-4431-A861-7B6B85F86954}">
      <dgm:prSet/>
      <dgm:spPr/>
      <dgm:t>
        <a:bodyPr/>
        <a:lstStyle/>
        <a:p>
          <a:endParaRPr lang="en-US"/>
        </a:p>
      </dgm:t>
    </dgm:pt>
    <dgm:pt modelId="{A093BE81-8CC9-434D-80E8-4AE9052B9EF7}">
      <dgm:prSet/>
      <dgm:spPr>
        <a:solidFill>
          <a:schemeClr val="tx1">
            <a:lumMod val="65000"/>
            <a:lumOff val="35000"/>
          </a:schemeClr>
        </a:solidFill>
      </dgm:spPr>
      <dgm:t>
        <a:bodyPr/>
        <a:lstStyle/>
        <a:p>
          <a:r>
            <a:rPr lang="en-US" b="1" i="0" dirty="0"/>
            <a:t>Model building which includes defining the purpose if model, determine the model boundary, build the model, create an interface and export the model.</a:t>
          </a:r>
          <a:endParaRPr lang="en-US" dirty="0"/>
        </a:p>
      </dgm:t>
    </dgm:pt>
    <dgm:pt modelId="{FE771E02-8D85-4613-811C-11D003990DBC}" type="parTrans" cxnId="{3951EE88-5E01-4189-9404-48FDA15C1A2E}">
      <dgm:prSet/>
      <dgm:spPr/>
      <dgm:t>
        <a:bodyPr/>
        <a:lstStyle/>
        <a:p>
          <a:endParaRPr lang="en-US"/>
        </a:p>
      </dgm:t>
    </dgm:pt>
    <dgm:pt modelId="{7B9B9556-E0DF-4FD2-B36D-019FF261C5F8}" type="sibTrans" cxnId="{3951EE88-5E01-4189-9404-48FDA15C1A2E}">
      <dgm:prSet/>
      <dgm:spPr/>
      <dgm:t>
        <a:bodyPr/>
        <a:lstStyle/>
        <a:p>
          <a:endParaRPr lang="en-US"/>
        </a:p>
      </dgm:t>
    </dgm:pt>
    <dgm:pt modelId="{18B8821C-7F65-4ED8-B840-EA729A94AEF5}">
      <dgm:prSet/>
      <dgm:spPr>
        <a:solidFill>
          <a:schemeClr val="tx1">
            <a:lumMod val="50000"/>
            <a:lumOff val="50000"/>
          </a:schemeClr>
        </a:solidFill>
      </dgm:spPr>
      <dgm:t>
        <a:bodyPr/>
        <a:lstStyle/>
        <a:p>
          <a:r>
            <a:rPr lang="en-US" b="1" i="0" dirty="0"/>
            <a:t>Evaluating machine learning algorithm is an essential part of project.</a:t>
          </a:r>
          <a:endParaRPr lang="en-US" dirty="0"/>
        </a:p>
      </dgm:t>
    </dgm:pt>
    <dgm:pt modelId="{452DC102-07AE-45D6-A5BE-E6DBC644D892}" type="parTrans" cxnId="{55074D2E-3C66-4CEA-BF09-0168CECC04B0}">
      <dgm:prSet/>
      <dgm:spPr/>
      <dgm:t>
        <a:bodyPr/>
        <a:lstStyle/>
        <a:p>
          <a:endParaRPr lang="en-US"/>
        </a:p>
      </dgm:t>
    </dgm:pt>
    <dgm:pt modelId="{D2B858F3-2F9A-4659-A20D-0484F7E934C3}" type="sibTrans" cxnId="{55074D2E-3C66-4CEA-BF09-0168CECC04B0}">
      <dgm:prSet/>
      <dgm:spPr/>
      <dgm:t>
        <a:bodyPr/>
        <a:lstStyle/>
        <a:p>
          <a:endParaRPr lang="en-US"/>
        </a:p>
      </dgm:t>
    </dgm:pt>
    <dgm:pt modelId="{42114350-69AB-45BD-B878-87ED157EDDCD}" type="pres">
      <dgm:prSet presAssocID="{2696D6D1-793E-4DA2-87ED-962869761207}" presName="linear" presStyleCnt="0">
        <dgm:presLayoutVars>
          <dgm:animLvl val="lvl"/>
          <dgm:resizeHandles val="exact"/>
        </dgm:presLayoutVars>
      </dgm:prSet>
      <dgm:spPr/>
    </dgm:pt>
    <dgm:pt modelId="{9F112EBD-6B97-4C0A-9B63-F6B5C32BB3BA}" type="pres">
      <dgm:prSet presAssocID="{C26DD179-5E14-4872-9F74-9673A142535E}" presName="parentText" presStyleLbl="node1" presStyleIdx="0" presStyleCnt="4">
        <dgm:presLayoutVars>
          <dgm:chMax val="0"/>
          <dgm:bulletEnabled val="1"/>
        </dgm:presLayoutVars>
      </dgm:prSet>
      <dgm:spPr/>
    </dgm:pt>
    <dgm:pt modelId="{DA9509DD-1C3B-4709-B0D5-7B43407056D3}" type="pres">
      <dgm:prSet presAssocID="{95D7CABB-6C8A-4B2E-B79D-AA85A757D751}" presName="spacer" presStyleCnt="0"/>
      <dgm:spPr/>
    </dgm:pt>
    <dgm:pt modelId="{320EF18F-94AF-445E-980A-2586E97551C8}" type="pres">
      <dgm:prSet presAssocID="{6FB3ABD1-C0B8-474A-90B1-17E300B6D16E}" presName="parentText" presStyleLbl="node1" presStyleIdx="1" presStyleCnt="4">
        <dgm:presLayoutVars>
          <dgm:chMax val="0"/>
          <dgm:bulletEnabled val="1"/>
        </dgm:presLayoutVars>
      </dgm:prSet>
      <dgm:spPr/>
    </dgm:pt>
    <dgm:pt modelId="{1795AFB6-5601-484B-BC3B-ED2D69EAE350}" type="pres">
      <dgm:prSet presAssocID="{3D5843D5-727F-4140-9E1E-8F4C5A172098}" presName="spacer" presStyleCnt="0"/>
      <dgm:spPr/>
    </dgm:pt>
    <dgm:pt modelId="{C239D253-3F3B-4D69-9E1E-EDB6DB9735B4}" type="pres">
      <dgm:prSet presAssocID="{A093BE81-8CC9-434D-80E8-4AE9052B9EF7}" presName="parentText" presStyleLbl="node1" presStyleIdx="2" presStyleCnt="4">
        <dgm:presLayoutVars>
          <dgm:chMax val="0"/>
          <dgm:bulletEnabled val="1"/>
        </dgm:presLayoutVars>
      </dgm:prSet>
      <dgm:spPr/>
    </dgm:pt>
    <dgm:pt modelId="{31EDC3A8-0471-4861-8C05-AF49AA3C6A17}" type="pres">
      <dgm:prSet presAssocID="{7B9B9556-E0DF-4FD2-B36D-019FF261C5F8}" presName="spacer" presStyleCnt="0"/>
      <dgm:spPr/>
    </dgm:pt>
    <dgm:pt modelId="{D9318D5A-0D17-4DBA-9739-0474631FAB80}" type="pres">
      <dgm:prSet presAssocID="{18B8821C-7F65-4ED8-B840-EA729A94AEF5}" presName="parentText" presStyleLbl="node1" presStyleIdx="3" presStyleCnt="4">
        <dgm:presLayoutVars>
          <dgm:chMax val="0"/>
          <dgm:bulletEnabled val="1"/>
        </dgm:presLayoutVars>
      </dgm:prSet>
      <dgm:spPr/>
    </dgm:pt>
  </dgm:ptLst>
  <dgm:cxnLst>
    <dgm:cxn modelId="{06D58612-803D-49DC-ACE1-59E3D03ED4C1}" type="presOf" srcId="{C26DD179-5E14-4872-9F74-9673A142535E}" destId="{9F112EBD-6B97-4C0A-9B63-F6B5C32BB3BA}" srcOrd="0" destOrd="0" presId="urn:microsoft.com/office/officeart/2005/8/layout/vList2"/>
    <dgm:cxn modelId="{18E9BF1E-3F85-4B5B-B240-B39999938657}" type="presOf" srcId="{A093BE81-8CC9-434D-80E8-4AE9052B9EF7}" destId="{C239D253-3F3B-4D69-9E1E-EDB6DB9735B4}" srcOrd="0" destOrd="0" presId="urn:microsoft.com/office/officeart/2005/8/layout/vList2"/>
    <dgm:cxn modelId="{C4535023-39AE-4431-A861-7B6B85F86954}" srcId="{2696D6D1-793E-4DA2-87ED-962869761207}" destId="{6FB3ABD1-C0B8-474A-90B1-17E300B6D16E}" srcOrd="1" destOrd="0" parTransId="{0822BAD1-5B5C-44E3-BAA9-4A1533739167}" sibTransId="{3D5843D5-727F-4140-9E1E-8F4C5A172098}"/>
    <dgm:cxn modelId="{55074D2E-3C66-4CEA-BF09-0168CECC04B0}" srcId="{2696D6D1-793E-4DA2-87ED-962869761207}" destId="{18B8821C-7F65-4ED8-B840-EA729A94AEF5}" srcOrd="3" destOrd="0" parTransId="{452DC102-07AE-45D6-A5BE-E6DBC644D892}" sibTransId="{D2B858F3-2F9A-4659-A20D-0484F7E934C3}"/>
    <dgm:cxn modelId="{096CA365-613A-452B-986A-7A34BD2CF915}" srcId="{2696D6D1-793E-4DA2-87ED-962869761207}" destId="{C26DD179-5E14-4872-9F74-9673A142535E}" srcOrd="0" destOrd="0" parTransId="{A7140613-CE74-45E8-86A9-8BFACAE4AD6E}" sibTransId="{95D7CABB-6C8A-4B2E-B79D-AA85A757D751}"/>
    <dgm:cxn modelId="{0EF46458-47B4-4961-9AA7-F12B2B46888D}" type="presOf" srcId="{2696D6D1-793E-4DA2-87ED-962869761207}" destId="{42114350-69AB-45BD-B878-87ED157EDDCD}" srcOrd="0" destOrd="0" presId="urn:microsoft.com/office/officeart/2005/8/layout/vList2"/>
    <dgm:cxn modelId="{3951EE88-5E01-4189-9404-48FDA15C1A2E}" srcId="{2696D6D1-793E-4DA2-87ED-962869761207}" destId="{A093BE81-8CC9-434D-80E8-4AE9052B9EF7}" srcOrd="2" destOrd="0" parTransId="{FE771E02-8D85-4613-811C-11D003990DBC}" sibTransId="{7B9B9556-E0DF-4FD2-B36D-019FF261C5F8}"/>
    <dgm:cxn modelId="{8EBB97DC-14B7-4B7B-9B15-5BDD983BD788}" type="presOf" srcId="{18B8821C-7F65-4ED8-B840-EA729A94AEF5}" destId="{D9318D5A-0D17-4DBA-9739-0474631FAB80}" srcOrd="0" destOrd="0" presId="urn:microsoft.com/office/officeart/2005/8/layout/vList2"/>
    <dgm:cxn modelId="{F15D6AF6-F71F-4B3B-AB3C-3B402F19B1D7}" type="presOf" srcId="{6FB3ABD1-C0B8-474A-90B1-17E300B6D16E}" destId="{320EF18F-94AF-445E-980A-2586E97551C8}" srcOrd="0" destOrd="0" presId="urn:microsoft.com/office/officeart/2005/8/layout/vList2"/>
    <dgm:cxn modelId="{809741D4-B821-46A8-A30C-0D21CAE16E7E}" type="presParOf" srcId="{42114350-69AB-45BD-B878-87ED157EDDCD}" destId="{9F112EBD-6B97-4C0A-9B63-F6B5C32BB3BA}" srcOrd="0" destOrd="0" presId="urn:microsoft.com/office/officeart/2005/8/layout/vList2"/>
    <dgm:cxn modelId="{E448426D-B79B-467B-813C-6F7D9AF1BC7F}" type="presParOf" srcId="{42114350-69AB-45BD-B878-87ED157EDDCD}" destId="{DA9509DD-1C3B-4709-B0D5-7B43407056D3}" srcOrd="1" destOrd="0" presId="urn:microsoft.com/office/officeart/2005/8/layout/vList2"/>
    <dgm:cxn modelId="{E2782810-DDD2-438F-8C84-56355959D3E1}" type="presParOf" srcId="{42114350-69AB-45BD-B878-87ED157EDDCD}" destId="{320EF18F-94AF-445E-980A-2586E97551C8}" srcOrd="2" destOrd="0" presId="urn:microsoft.com/office/officeart/2005/8/layout/vList2"/>
    <dgm:cxn modelId="{3D97AE60-8DF9-486B-B8F4-F1D2F41479FF}" type="presParOf" srcId="{42114350-69AB-45BD-B878-87ED157EDDCD}" destId="{1795AFB6-5601-484B-BC3B-ED2D69EAE350}" srcOrd="3" destOrd="0" presId="urn:microsoft.com/office/officeart/2005/8/layout/vList2"/>
    <dgm:cxn modelId="{E6073126-6ACC-46C2-BFE4-7652882A9D37}" type="presParOf" srcId="{42114350-69AB-45BD-B878-87ED157EDDCD}" destId="{C239D253-3F3B-4D69-9E1E-EDB6DB9735B4}" srcOrd="4" destOrd="0" presId="urn:microsoft.com/office/officeart/2005/8/layout/vList2"/>
    <dgm:cxn modelId="{2CC28197-0AD6-4A4F-B492-3FC0986EE322}" type="presParOf" srcId="{42114350-69AB-45BD-B878-87ED157EDDCD}" destId="{31EDC3A8-0471-4861-8C05-AF49AA3C6A17}" srcOrd="5" destOrd="0" presId="urn:microsoft.com/office/officeart/2005/8/layout/vList2"/>
    <dgm:cxn modelId="{0FB25C42-120D-48B4-B363-3BD8B3DCA31E}" type="presParOf" srcId="{42114350-69AB-45BD-B878-87ED157EDDCD}" destId="{D9318D5A-0D17-4DBA-9739-0474631FAB80}"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999418-38DC-4263-950E-AC41C0ABC58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4A46B84-3E49-40E3-A3FA-7594B066CB54}">
      <dgm:prSet/>
      <dgm:spPr/>
      <dgm:t>
        <a:bodyPr/>
        <a:lstStyle/>
        <a:p>
          <a:r>
            <a:rPr lang="en-US" b="1" i="0"/>
            <a:t>The data was analyzed using python software</a:t>
          </a:r>
          <a:endParaRPr lang="en-US"/>
        </a:p>
      </dgm:t>
    </dgm:pt>
    <dgm:pt modelId="{4F607548-A251-4984-A01F-C2602E7C4EB5}" type="parTrans" cxnId="{D8675436-8A62-4A9E-92DE-F21566D0F6B6}">
      <dgm:prSet/>
      <dgm:spPr/>
      <dgm:t>
        <a:bodyPr/>
        <a:lstStyle/>
        <a:p>
          <a:endParaRPr lang="en-US"/>
        </a:p>
      </dgm:t>
    </dgm:pt>
    <dgm:pt modelId="{2B9E601E-9EA9-4306-A56F-7F20064EF5CC}" type="sibTrans" cxnId="{D8675436-8A62-4A9E-92DE-F21566D0F6B6}">
      <dgm:prSet/>
      <dgm:spPr/>
      <dgm:t>
        <a:bodyPr/>
        <a:lstStyle/>
        <a:p>
          <a:endParaRPr lang="en-US"/>
        </a:p>
      </dgm:t>
    </dgm:pt>
    <dgm:pt modelId="{D986AF6E-1F3B-43E2-8638-D6D860758AFC}">
      <dgm:prSet/>
      <dgm:spPr/>
      <dgm:t>
        <a:bodyPr/>
        <a:lstStyle/>
        <a:p>
          <a:r>
            <a:rPr lang="en-US" b="1" i="0"/>
            <a:t>The libraries used are </a:t>
          </a:r>
          <a:endParaRPr lang="en-US"/>
        </a:p>
      </dgm:t>
    </dgm:pt>
    <dgm:pt modelId="{11B022CF-C468-443C-BF37-DBD4F6BE2026}" type="parTrans" cxnId="{1E8368C5-AE5A-4F0E-84C1-BF6725ECB199}">
      <dgm:prSet/>
      <dgm:spPr/>
      <dgm:t>
        <a:bodyPr/>
        <a:lstStyle/>
        <a:p>
          <a:endParaRPr lang="en-US"/>
        </a:p>
      </dgm:t>
    </dgm:pt>
    <dgm:pt modelId="{AB17EAD4-673E-41CA-BEF6-38E915AF535D}" type="sibTrans" cxnId="{1E8368C5-AE5A-4F0E-84C1-BF6725ECB199}">
      <dgm:prSet/>
      <dgm:spPr/>
      <dgm:t>
        <a:bodyPr/>
        <a:lstStyle/>
        <a:p>
          <a:endParaRPr lang="en-US"/>
        </a:p>
      </dgm:t>
    </dgm:pt>
    <dgm:pt modelId="{0E8BD2B1-567B-4511-B887-252CD6099043}">
      <dgm:prSet/>
      <dgm:spPr/>
      <dgm:t>
        <a:bodyPr/>
        <a:lstStyle/>
        <a:p>
          <a:r>
            <a:rPr lang="en-US" b="1" i="0"/>
            <a:t>Numpy, pandas, plotly, matplotlib, seaborn, sklearn.</a:t>
          </a:r>
          <a:endParaRPr lang="en-US"/>
        </a:p>
      </dgm:t>
    </dgm:pt>
    <dgm:pt modelId="{F7B6EA93-A68C-4C71-BBF7-EE786CDA3BC6}" type="parTrans" cxnId="{E32612D3-D11D-40AF-9806-83B14B862868}">
      <dgm:prSet/>
      <dgm:spPr/>
      <dgm:t>
        <a:bodyPr/>
        <a:lstStyle/>
        <a:p>
          <a:endParaRPr lang="en-US"/>
        </a:p>
      </dgm:t>
    </dgm:pt>
    <dgm:pt modelId="{362965FD-D45E-494D-AAA9-6AFC8383C746}" type="sibTrans" cxnId="{E32612D3-D11D-40AF-9806-83B14B862868}">
      <dgm:prSet/>
      <dgm:spPr/>
      <dgm:t>
        <a:bodyPr/>
        <a:lstStyle/>
        <a:p>
          <a:endParaRPr lang="en-US"/>
        </a:p>
      </dgm:t>
    </dgm:pt>
    <dgm:pt modelId="{8316C077-CF60-498A-B059-81E4F7D73F4F}">
      <dgm:prSet/>
      <dgm:spPr/>
      <dgm:t>
        <a:bodyPr/>
        <a:lstStyle/>
        <a:p>
          <a:r>
            <a:rPr lang="en-US" b="1" i="0"/>
            <a:t>Exploratory data analysis (EDA) is an approach to analyse data sets &amp; to summarize their main characteristics, often with visual methods.</a:t>
          </a:r>
          <a:endParaRPr lang="en-US"/>
        </a:p>
      </dgm:t>
    </dgm:pt>
    <dgm:pt modelId="{4B89B624-1654-4608-A9D7-57A747BE178F}" type="parTrans" cxnId="{88C669CE-4335-4CC5-BDDA-662120B18EF2}">
      <dgm:prSet/>
      <dgm:spPr/>
      <dgm:t>
        <a:bodyPr/>
        <a:lstStyle/>
        <a:p>
          <a:endParaRPr lang="en-US"/>
        </a:p>
      </dgm:t>
    </dgm:pt>
    <dgm:pt modelId="{69548BFD-21CF-4DA7-86C1-94EAA9B471F0}" type="sibTrans" cxnId="{88C669CE-4335-4CC5-BDDA-662120B18EF2}">
      <dgm:prSet/>
      <dgm:spPr/>
      <dgm:t>
        <a:bodyPr/>
        <a:lstStyle/>
        <a:p>
          <a:endParaRPr lang="en-US"/>
        </a:p>
      </dgm:t>
    </dgm:pt>
    <dgm:pt modelId="{A6285BE7-1322-4021-82D2-F5974E13775F}">
      <dgm:prSet/>
      <dgm:spPr/>
      <dgm:t>
        <a:bodyPr/>
        <a:lstStyle/>
        <a:p>
          <a:r>
            <a:rPr lang="en-US" b="1" i="0" dirty="0"/>
            <a:t>A Statistical model can be used or not, but primarily EDA is for seeing what the data can tell us beyond the formal modelling or hypothesis</a:t>
          </a:r>
          <a:endParaRPr lang="en-US" dirty="0"/>
        </a:p>
      </dgm:t>
    </dgm:pt>
    <dgm:pt modelId="{15C4CA62-9D17-4B11-A628-CCBC71A9F0BF}" type="parTrans" cxnId="{773C2D18-431B-40C8-BD33-96F73564F824}">
      <dgm:prSet/>
      <dgm:spPr/>
      <dgm:t>
        <a:bodyPr/>
        <a:lstStyle/>
        <a:p>
          <a:endParaRPr lang="en-US"/>
        </a:p>
      </dgm:t>
    </dgm:pt>
    <dgm:pt modelId="{21B3103C-8B3B-4394-B23D-B11D7C15E6D6}" type="sibTrans" cxnId="{773C2D18-431B-40C8-BD33-96F73564F824}">
      <dgm:prSet/>
      <dgm:spPr/>
      <dgm:t>
        <a:bodyPr/>
        <a:lstStyle/>
        <a:p>
          <a:endParaRPr lang="en-US"/>
        </a:p>
      </dgm:t>
    </dgm:pt>
    <dgm:pt modelId="{4799D625-B715-4E51-8C84-90E7A5790DFC}" type="pres">
      <dgm:prSet presAssocID="{A1999418-38DC-4263-950E-AC41C0ABC585}" presName="root" presStyleCnt="0">
        <dgm:presLayoutVars>
          <dgm:dir/>
          <dgm:resizeHandles val="exact"/>
        </dgm:presLayoutVars>
      </dgm:prSet>
      <dgm:spPr/>
    </dgm:pt>
    <dgm:pt modelId="{9D19FCAA-8F7F-4166-8426-DE9D4BAED1D5}" type="pres">
      <dgm:prSet presAssocID="{74A46B84-3E49-40E3-A3FA-7594B066CB54}" presName="compNode" presStyleCnt="0"/>
      <dgm:spPr/>
    </dgm:pt>
    <dgm:pt modelId="{8B6574DB-A701-4F59-BF63-D6FF095A2B71}" type="pres">
      <dgm:prSet presAssocID="{74A46B84-3E49-40E3-A3FA-7594B066CB54}" presName="bgRect" presStyleLbl="bgShp" presStyleIdx="0" presStyleCnt="5"/>
      <dgm:spPr>
        <a:solidFill>
          <a:schemeClr val="tx1">
            <a:lumMod val="75000"/>
            <a:lumOff val="25000"/>
          </a:schemeClr>
        </a:solidFill>
      </dgm:spPr>
    </dgm:pt>
    <dgm:pt modelId="{0E45A60E-C77D-45F2-AFC3-F510D35E8F20}" type="pres">
      <dgm:prSet presAssocID="{74A46B84-3E49-40E3-A3FA-7594B066CB5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49AC5071-3D99-488D-84FD-D7003941EF88}" type="pres">
      <dgm:prSet presAssocID="{74A46B84-3E49-40E3-A3FA-7594B066CB54}" presName="spaceRect" presStyleCnt="0"/>
      <dgm:spPr/>
    </dgm:pt>
    <dgm:pt modelId="{7F5BC807-3C34-47BA-A5AF-9B29237918A9}" type="pres">
      <dgm:prSet presAssocID="{74A46B84-3E49-40E3-A3FA-7594B066CB54}" presName="parTx" presStyleLbl="revTx" presStyleIdx="0" presStyleCnt="5">
        <dgm:presLayoutVars>
          <dgm:chMax val="0"/>
          <dgm:chPref val="0"/>
        </dgm:presLayoutVars>
      </dgm:prSet>
      <dgm:spPr/>
    </dgm:pt>
    <dgm:pt modelId="{962A742F-56F4-4614-AFA8-112B77C9E0BE}" type="pres">
      <dgm:prSet presAssocID="{2B9E601E-9EA9-4306-A56F-7F20064EF5CC}" presName="sibTrans" presStyleCnt="0"/>
      <dgm:spPr/>
    </dgm:pt>
    <dgm:pt modelId="{1FF39CA7-889E-43DC-9C01-08BA4918FD17}" type="pres">
      <dgm:prSet presAssocID="{D986AF6E-1F3B-43E2-8638-D6D860758AFC}" presName="compNode" presStyleCnt="0"/>
      <dgm:spPr/>
    </dgm:pt>
    <dgm:pt modelId="{337A6AFB-A8A9-420B-8199-F5FCD5BE1B9A}" type="pres">
      <dgm:prSet presAssocID="{D986AF6E-1F3B-43E2-8638-D6D860758AFC}" presName="bgRect" presStyleLbl="bgShp" presStyleIdx="1" presStyleCnt="5"/>
      <dgm:spPr>
        <a:solidFill>
          <a:schemeClr val="tx1">
            <a:lumMod val="65000"/>
            <a:lumOff val="35000"/>
          </a:schemeClr>
        </a:solidFill>
      </dgm:spPr>
    </dgm:pt>
    <dgm:pt modelId="{31A7049D-DD1E-4349-9D21-676D0040744F}" type="pres">
      <dgm:prSet presAssocID="{D986AF6E-1F3B-43E2-8638-D6D860758AFC}"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oks on Shelf"/>
        </a:ext>
      </dgm:extLst>
    </dgm:pt>
    <dgm:pt modelId="{6287D75B-2BC3-47BA-812D-051B56B26B0C}" type="pres">
      <dgm:prSet presAssocID="{D986AF6E-1F3B-43E2-8638-D6D860758AFC}" presName="spaceRect" presStyleCnt="0"/>
      <dgm:spPr/>
    </dgm:pt>
    <dgm:pt modelId="{9619D9AE-8EB7-4711-96F7-F7CBC0E8C2CE}" type="pres">
      <dgm:prSet presAssocID="{D986AF6E-1F3B-43E2-8638-D6D860758AFC}" presName="parTx" presStyleLbl="revTx" presStyleIdx="1" presStyleCnt="5">
        <dgm:presLayoutVars>
          <dgm:chMax val="0"/>
          <dgm:chPref val="0"/>
        </dgm:presLayoutVars>
      </dgm:prSet>
      <dgm:spPr/>
    </dgm:pt>
    <dgm:pt modelId="{7109AD91-7BEC-40A9-AC2C-93215F654333}" type="pres">
      <dgm:prSet presAssocID="{AB17EAD4-673E-41CA-BEF6-38E915AF535D}" presName="sibTrans" presStyleCnt="0"/>
      <dgm:spPr/>
    </dgm:pt>
    <dgm:pt modelId="{76973351-52EC-482C-9E7F-B07F30E54854}" type="pres">
      <dgm:prSet presAssocID="{0E8BD2B1-567B-4511-B887-252CD6099043}" presName="compNode" presStyleCnt="0"/>
      <dgm:spPr/>
    </dgm:pt>
    <dgm:pt modelId="{93458FB4-7121-4F95-91E4-B0652D0D3114}" type="pres">
      <dgm:prSet presAssocID="{0E8BD2B1-567B-4511-B887-252CD6099043}" presName="bgRect" presStyleLbl="bgShp" presStyleIdx="2" presStyleCnt="5"/>
      <dgm:spPr>
        <a:solidFill>
          <a:schemeClr val="tx1">
            <a:lumMod val="50000"/>
            <a:lumOff val="50000"/>
          </a:schemeClr>
        </a:solidFill>
      </dgm:spPr>
    </dgm:pt>
    <dgm:pt modelId="{75B982A1-6307-4339-B5E7-FCA079D3A5E5}" type="pres">
      <dgm:prSet presAssocID="{0E8BD2B1-567B-4511-B887-252CD609904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anda"/>
        </a:ext>
      </dgm:extLst>
    </dgm:pt>
    <dgm:pt modelId="{0F8D054D-2838-4B16-8939-A454FB72FC0D}" type="pres">
      <dgm:prSet presAssocID="{0E8BD2B1-567B-4511-B887-252CD6099043}" presName="spaceRect" presStyleCnt="0"/>
      <dgm:spPr/>
    </dgm:pt>
    <dgm:pt modelId="{CE5CA079-B113-4CD5-B4B3-E8B700390AB1}" type="pres">
      <dgm:prSet presAssocID="{0E8BD2B1-567B-4511-B887-252CD6099043}" presName="parTx" presStyleLbl="revTx" presStyleIdx="2" presStyleCnt="5">
        <dgm:presLayoutVars>
          <dgm:chMax val="0"/>
          <dgm:chPref val="0"/>
        </dgm:presLayoutVars>
      </dgm:prSet>
      <dgm:spPr/>
    </dgm:pt>
    <dgm:pt modelId="{B9852E54-9C16-48F8-88DB-BAB671D1A7E3}" type="pres">
      <dgm:prSet presAssocID="{362965FD-D45E-494D-AAA9-6AFC8383C746}" presName="sibTrans" presStyleCnt="0"/>
      <dgm:spPr/>
    </dgm:pt>
    <dgm:pt modelId="{6B686977-36D2-4054-8927-77201B3665BB}" type="pres">
      <dgm:prSet presAssocID="{8316C077-CF60-498A-B059-81E4F7D73F4F}" presName="compNode" presStyleCnt="0"/>
      <dgm:spPr/>
    </dgm:pt>
    <dgm:pt modelId="{E1F33274-3DD3-4C92-9B10-EE86C47FE55A}" type="pres">
      <dgm:prSet presAssocID="{8316C077-CF60-498A-B059-81E4F7D73F4F}" presName="bgRect" presStyleLbl="bgShp" presStyleIdx="3" presStyleCnt="5"/>
      <dgm:spPr>
        <a:solidFill>
          <a:schemeClr val="bg1">
            <a:lumMod val="65000"/>
          </a:schemeClr>
        </a:solidFill>
      </dgm:spPr>
    </dgm:pt>
    <dgm:pt modelId="{A217091E-9E92-4504-AEA1-1B189FA6DAA2}" type="pres">
      <dgm:prSet presAssocID="{8316C077-CF60-498A-B059-81E4F7D73F4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5C22B535-36CF-4C7B-ABD8-99CC09A76450}" type="pres">
      <dgm:prSet presAssocID="{8316C077-CF60-498A-B059-81E4F7D73F4F}" presName="spaceRect" presStyleCnt="0"/>
      <dgm:spPr/>
    </dgm:pt>
    <dgm:pt modelId="{B18F8093-66CA-40B9-A9CD-F6339F80977C}" type="pres">
      <dgm:prSet presAssocID="{8316C077-CF60-498A-B059-81E4F7D73F4F}" presName="parTx" presStyleLbl="revTx" presStyleIdx="3" presStyleCnt="5">
        <dgm:presLayoutVars>
          <dgm:chMax val="0"/>
          <dgm:chPref val="0"/>
        </dgm:presLayoutVars>
      </dgm:prSet>
      <dgm:spPr/>
    </dgm:pt>
    <dgm:pt modelId="{8AB7745E-314B-4C87-970A-278BDFFB9ABA}" type="pres">
      <dgm:prSet presAssocID="{69548BFD-21CF-4DA7-86C1-94EAA9B471F0}" presName="sibTrans" presStyleCnt="0"/>
      <dgm:spPr/>
    </dgm:pt>
    <dgm:pt modelId="{7D7967C8-9904-42BC-BC3D-173E75926AC0}" type="pres">
      <dgm:prSet presAssocID="{A6285BE7-1322-4021-82D2-F5974E13775F}" presName="compNode" presStyleCnt="0"/>
      <dgm:spPr/>
    </dgm:pt>
    <dgm:pt modelId="{2E0B4669-2194-4F57-9683-A5C1AB654DB4}" type="pres">
      <dgm:prSet presAssocID="{A6285BE7-1322-4021-82D2-F5974E13775F}" presName="bgRect" presStyleLbl="bgShp" presStyleIdx="4" presStyleCnt="5"/>
      <dgm:spPr>
        <a:solidFill>
          <a:schemeClr val="bg1">
            <a:lumMod val="75000"/>
          </a:schemeClr>
        </a:solidFill>
      </dgm:spPr>
    </dgm:pt>
    <dgm:pt modelId="{6C207200-501E-4AB3-BA04-AB2FC9EDDD32}" type="pres">
      <dgm:prSet presAssocID="{A6285BE7-1322-4021-82D2-F5974E13775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estions"/>
        </a:ext>
      </dgm:extLst>
    </dgm:pt>
    <dgm:pt modelId="{D2847A81-4F4B-4FF3-A8A6-91BC469D3E2A}" type="pres">
      <dgm:prSet presAssocID="{A6285BE7-1322-4021-82D2-F5974E13775F}" presName="spaceRect" presStyleCnt="0"/>
      <dgm:spPr/>
    </dgm:pt>
    <dgm:pt modelId="{411B08EF-0465-47AC-B054-BB3A41BFCAD3}" type="pres">
      <dgm:prSet presAssocID="{A6285BE7-1322-4021-82D2-F5974E13775F}" presName="parTx" presStyleLbl="revTx" presStyleIdx="4" presStyleCnt="5">
        <dgm:presLayoutVars>
          <dgm:chMax val="0"/>
          <dgm:chPref val="0"/>
        </dgm:presLayoutVars>
      </dgm:prSet>
      <dgm:spPr/>
    </dgm:pt>
  </dgm:ptLst>
  <dgm:cxnLst>
    <dgm:cxn modelId="{7988DA0B-5DB2-41A2-85DD-D021B650FF01}" type="presOf" srcId="{74A46B84-3E49-40E3-A3FA-7594B066CB54}" destId="{7F5BC807-3C34-47BA-A5AF-9B29237918A9}" srcOrd="0" destOrd="0" presId="urn:microsoft.com/office/officeart/2018/2/layout/IconVerticalSolidList"/>
    <dgm:cxn modelId="{773C2D18-431B-40C8-BD33-96F73564F824}" srcId="{A1999418-38DC-4263-950E-AC41C0ABC585}" destId="{A6285BE7-1322-4021-82D2-F5974E13775F}" srcOrd="4" destOrd="0" parTransId="{15C4CA62-9D17-4B11-A628-CCBC71A9F0BF}" sibTransId="{21B3103C-8B3B-4394-B23D-B11D7C15E6D6}"/>
    <dgm:cxn modelId="{D8675436-8A62-4A9E-92DE-F21566D0F6B6}" srcId="{A1999418-38DC-4263-950E-AC41C0ABC585}" destId="{74A46B84-3E49-40E3-A3FA-7594B066CB54}" srcOrd="0" destOrd="0" parTransId="{4F607548-A251-4984-A01F-C2602E7C4EB5}" sibTransId="{2B9E601E-9EA9-4306-A56F-7F20064EF5CC}"/>
    <dgm:cxn modelId="{F14B2538-7262-41BB-8A9F-044D743F6237}" type="presOf" srcId="{8316C077-CF60-498A-B059-81E4F7D73F4F}" destId="{B18F8093-66CA-40B9-A9CD-F6339F80977C}" srcOrd="0" destOrd="0" presId="urn:microsoft.com/office/officeart/2018/2/layout/IconVerticalSolidList"/>
    <dgm:cxn modelId="{85DD3965-B9A5-43BE-9878-934A9585CCB5}" type="presOf" srcId="{A1999418-38DC-4263-950E-AC41C0ABC585}" destId="{4799D625-B715-4E51-8C84-90E7A5790DFC}" srcOrd="0" destOrd="0" presId="urn:microsoft.com/office/officeart/2018/2/layout/IconVerticalSolidList"/>
    <dgm:cxn modelId="{C6AE509E-0232-4CA6-94AF-38D67C4D5424}" type="presOf" srcId="{A6285BE7-1322-4021-82D2-F5974E13775F}" destId="{411B08EF-0465-47AC-B054-BB3A41BFCAD3}" srcOrd="0" destOrd="0" presId="urn:microsoft.com/office/officeart/2018/2/layout/IconVerticalSolidList"/>
    <dgm:cxn modelId="{1E8368C5-AE5A-4F0E-84C1-BF6725ECB199}" srcId="{A1999418-38DC-4263-950E-AC41C0ABC585}" destId="{D986AF6E-1F3B-43E2-8638-D6D860758AFC}" srcOrd="1" destOrd="0" parTransId="{11B022CF-C468-443C-BF37-DBD4F6BE2026}" sibTransId="{AB17EAD4-673E-41CA-BEF6-38E915AF535D}"/>
    <dgm:cxn modelId="{88C669CE-4335-4CC5-BDDA-662120B18EF2}" srcId="{A1999418-38DC-4263-950E-AC41C0ABC585}" destId="{8316C077-CF60-498A-B059-81E4F7D73F4F}" srcOrd="3" destOrd="0" parTransId="{4B89B624-1654-4608-A9D7-57A747BE178F}" sibTransId="{69548BFD-21CF-4DA7-86C1-94EAA9B471F0}"/>
    <dgm:cxn modelId="{E32612D3-D11D-40AF-9806-83B14B862868}" srcId="{A1999418-38DC-4263-950E-AC41C0ABC585}" destId="{0E8BD2B1-567B-4511-B887-252CD6099043}" srcOrd="2" destOrd="0" parTransId="{F7B6EA93-A68C-4C71-BBF7-EE786CDA3BC6}" sibTransId="{362965FD-D45E-494D-AAA9-6AFC8383C746}"/>
    <dgm:cxn modelId="{ACE6A7D5-5043-455F-B60A-9DA1C743F8C5}" type="presOf" srcId="{D986AF6E-1F3B-43E2-8638-D6D860758AFC}" destId="{9619D9AE-8EB7-4711-96F7-F7CBC0E8C2CE}" srcOrd="0" destOrd="0" presId="urn:microsoft.com/office/officeart/2018/2/layout/IconVerticalSolidList"/>
    <dgm:cxn modelId="{7A08A4EE-5498-459A-B51E-7F475E8612C7}" type="presOf" srcId="{0E8BD2B1-567B-4511-B887-252CD6099043}" destId="{CE5CA079-B113-4CD5-B4B3-E8B700390AB1}" srcOrd="0" destOrd="0" presId="urn:microsoft.com/office/officeart/2018/2/layout/IconVerticalSolidList"/>
    <dgm:cxn modelId="{1D056628-A5E5-47B5-8A7F-539C6F6F75CC}" type="presParOf" srcId="{4799D625-B715-4E51-8C84-90E7A5790DFC}" destId="{9D19FCAA-8F7F-4166-8426-DE9D4BAED1D5}" srcOrd="0" destOrd="0" presId="urn:microsoft.com/office/officeart/2018/2/layout/IconVerticalSolidList"/>
    <dgm:cxn modelId="{1FE296EF-1941-40C9-A450-7B5706E7B80E}" type="presParOf" srcId="{9D19FCAA-8F7F-4166-8426-DE9D4BAED1D5}" destId="{8B6574DB-A701-4F59-BF63-D6FF095A2B71}" srcOrd="0" destOrd="0" presId="urn:microsoft.com/office/officeart/2018/2/layout/IconVerticalSolidList"/>
    <dgm:cxn modelId="{3628B129-61BC-4935-8767-9B2C67659312}" type="presParOf" srcId="{9D19FCAA-8F7F-4166-8426-DE9D4BAED1D5}" destId="{0E45A60E-C77D-45F2-AFC3-F510D35E8F20}" srcOrd="1" destOrd="0" presId="urn:microsoft.com/office/officeart/2018/2/layout/IconVerticalSolidList"/>
    <dgm:cxn modelId="{583C3E98-5041-4035-B56A-F93114B0B4DC}" type="presParOf" srcId="{9D19FCAA-8F7F-4166-8426-DE9D4BAED1D5}" destId="{49AC5071-3D99-488D-84FD-D7003941EF88}" srcOrd="2" destOrd="0" presId="urn:microsoft.com/office/officeart/2018/2/layout/IconVerticalSolidList"/>
    <dgm:cxn modelId="{CBD6340F-B68E-4217-B627-61AA1387482B}" type="presParOf" srcId="{9D19FCAA-8F7F-4166-8426-DE9D4BAED1D5}" destId="{7F5BC807-3C34-47BA-A5AF-9B29237918A9}" srcOrd="3" destOrd="0" presId="urn:microsoft.com/office/officeart/2018/2/layout/IconVerticalSolidList"/>
    <dgm:cxn modelId="{5842EACE-2B7C-4350-BDF9-A86A7652F613}" type="presParOf" srcId="{4799D625-B715-4E51-8C84-90E7A5790DFC}" destId="{962A742F-56F4-4614-AFA8-112B77C9E0BE}" srcOrd="1" destOrd="0" presId="urn:microsoft.com/office/officeart/2018/2/layout/IconVerticalSolidList"/>
    <dgm:cxn modelId="{88F95C88-B171-432A-AE0D-DA0F1020B3AA}" type="presParOf" srcId="{4799D625-B715-4E51-8C84-90E7A5790DFC}" destId="{1FF39CA7-889E-43DC-9C01-08BA4918FD17}" srcOrd="2" destOrd="0" presId="urn:microsoft.com/office/officeart/2018/2/layout/IconVerticalSolidList"/>
    <dgm:cxn modelId="{22E50564-C093-4303-9372-7979FE5676D5}" type="presParOf" srcId="{1FF39CA7-889E-43DC-9C01-08BA4918FD17}" destId="{337A6AFB-A8A9-420B-8199-F5FCD5BE1B9A}" srcOrd="0" destOrd="0" presId="urn:microsoft.com/office/officeart/2018/2/layout/IconVerticalSolidList"/>
    <dgm:cxn modelId="{F4391E7C-6034-4138-8B2C-5B4610CA0BAA}" type="presParOf" srcId="{1FF39CA7-889E-43DC-9C01-08BA4918FD17}" destId="{31A7049D-DD1E-4349-9D21-676D0040744F}" srcOrd="1" destOrd="0" presId="urn:microsoft.com/office/officeart/2018/2/layout/IconVerticalSolidList"/>
    <dgm:cxn modelId="{965EF54D-89B9-4944-B490-B12D5750BCFB}" type="presParOf" srcId="{1FF39CA7-889E-43DC-9C01-08BA4918FD17}" destId="{6287D75B-2BC3-47BA-812D-051B56B26B0C}" srcOrd="2" destOrd="0" presId="urn:microsoft.com/office/officeart/2018/2/layout/IconVerticalSolidList"/>
    <dgm:cxn modelId="{E913325B-1789-4A95-9892-A48F6A9C5BED}" type="presParOf" srcId="{1FF39CA7-889E-43DC-9C01-08BA4918FD17}" destId="{9619D9AE-8EB7-4711-96F7-F7CBC0E8C2CE}" srcOrd="3" destOrd="0" presId="urn:microsoft.com/office/officeart/2018/2/layout/IconVerticalSolidList"/>
    <dgm:cxn modelId="{5F31C1EC-EA5E-4D1D-A4EA-294ECE1BEEB7}" type="presParOf" srcId="{4799D625-B715-4E51-8C84-90E7A5790DFC}" destId="{7109AD91-7BEC-40A9-AC2C-93215F654333}" srcOrd="3" destOrd="0" presId="urn:microsoft.com/office/officeart/2018/2/layout/IconVerticalSolidList"/>
    <dgm:cxn modelId="{2D9F05C8-6CD1-4CA3-9DFE-4F2353C85240}" type="presParOf" srcId="{4799D625-B715-4E51-8C84-90E7A5790DFC}" destId="{76973351-52EC-482C-9E7F-B07F30E54854}" srcOrd="4" destOrd="0" presId="urn:microsoft.com/office/officeart/2018/2/layout/IconVerticalSolidList"/>
    <dgm:cxn modelId="{92C1BBAC-1856-4A6F-B8AB-CE8E5BFA6B7B}" type="presParOf" srcId="{76973351-52EC-482C-9E7F-B07F30E54854}" destId="{93458FB4-7121-4F95-91E4-B0652D0D3114}" srcOrd="0" destOrd="0" presId="urn:microsoft.com/office/officeart/2018/2/layout/IconVerticalSolidList"/>
    <dgm:cxn modelId="{A72843C9-BF4C-45F2-9C72-549ED69EE400}" type="presParOf" srcId="{76973351-52EC-482C-9E7F-B07F30E54854}" destId="{75B982A1-6307-4339-B5E7-FCA079D3A5E5}" srcOrd="1" destOrd="0" presId="urn:microsoft.com/office/officeart/2018/2/layout/IconVerticalSolidList"/>
    <dgm:cxn modelId="{98792C6E-21FA-4703-8955-047C029DA335}" type="presParOf" srcId="{76973351-52EC-482C-9E7F-B07F30E54854}" destId="{0F8D054D-2838-4B16-8939-A454FB72FC0D}" srcOrd="2" destOrd="0" presId="urn:microsoft.com/office/officeart/2018/2/layout/IconVerticalSolidList"/>
    <dgm:cxn modelId="{41BFB700-88B0-439E-9963-145F9222818E}" type="presParOf" srcId="{76973351-52EC-482C-9E7F-B07F30E54854}" destId="{CE5CA079-B113-4CD5-B4B3-E8B700390AB1}" srcOrd="3" destOrd="0" presId="urn:microsoft.com/office/officeart/2018/2/layout/IconVerticalSolidList"/>
    <dgm:cxn modelId="{3DEE836B-08CB-49EB-B00C-DC09119B2140}" type="presParOf" srcId="{4799D625-B715-4E51-8C84-90E7A5790DFC}" destId="{B9852E54-9C16-48F8-88DB-BAB671D1A7E3}" srcOrd="5" destOrd="0" presId="urn:microsoft.com/office/officeart/2018/2/layout/IconVerticalSolidList"/>
    <dgm:cxn modelId="{8F9212E6-4D1B-4E0B-ACB4-1B2F2B476824}" type="presParOf" srcId="{4799D625-B715-4E51-8C84-90E7A5790DFC}" destId="{6B686977-36D2-4054-8927-77201B3665BB}" srcOrd="6" destOrd="0" presId="urn:microsoft.com/office/officeart/2018/2/layout/IconVerticalSolidList"/>
    <dgm:cxn modelId="{51989B39-300B-44A9-80B1-A075D002505F}" type="presParOf" srcId="{6B686977-36D2-4054-8927-77201B3665BB}" destId="{E1F33274-3DD3-4C92-9B10-EE86C47FE55A}" srcOrd="0" destOrd="0" presId="urn:microsoft.com/office/officeart/2018/2/layout/IconVerticalSolidList"/>
    <dgm:cxn modelId="{3499FAAC-1FE5-46AE-A802-A224D827D5AB}" type="presParOf" srcId="{6B686977-36D2-4054-8927-77201B3665BB}" destId="{A217091E-9E92-4504-AEA1-1B189FA6DAA2}" srcOrd="1" destOrd="0" presId="urn:microsoft.com/office/officeart/2018/2/layout/IconVerticalSolidList"/>
    <dgm:cxn modelId="{348D4CD8-84AC-4E13-9105-D4828683DB6E}" type="presParOf" srcId="{6B686977-36D2-4054-8927-77201B3665BB}" destId="{5C22B535-36CF-4C7B-ABD8-99CC09A76450}" srcOrd="2" destOrd="0" presId="urn:microsoft.com/office/officeart/2018/2/layout/IconVerticalSolidList"/>
    <dgm:cxn modelId="{63A4C51E-D931-4153-B720-48419BC6E369}" type="presParOf" srcId="{6B686977-36D2-4054-8927-77201B3665BB}" destId="{B18F8093-66CA-40B9-A9CD-F6339F80977C}" srcOrd="3" destOrd="0" presId="urn:microsoft.com/office/officeart/2018/2/layout/IconVerticalSolidList"/>
    <dgm:cxn modelId="{CD668A91-E9E4-4EB3-86C4-FB466621A761}" type="presParOf" srcId="{4799D625-B715-4E51-8C84-90E7A5790DFC}" destId="{8AB7745E-314B-4C87-970A-278BDFFB9ABA}" srcOrd="7" destOrd="0" presId="urn:microsoft.com/office/officeart/2018/2/layout/IconVerticalSolidList"/>
    <dgm:cxn modelId="{28955C80-08E5-41A0-B65F-10932AA4C254}" type="presParOf" srcId="{4799D625-B715-4E51-8C84-90E7A5790DFC}" destId="{7D7967C8-9904-42BC-BC3D-173E75926AC0}" srcOrd="8" destOrd="0" presId="urn:microsoft.com/office/officeart/2018/2/layout/IconVerticalSolidList"/>
    <dgm:cxn modelId="{9720BE65-06EC-46F8-96CE-C77172635437}" type="presParOf" srcId="{7D7967C8-9904-42BC-BC3D-173E75926AC0}" destId="{2E0B4669-2194-4F57-9683-A5C1AB654DB4}" srcOrd="0" destOrd="0" presId="urn:microsoft.com/office/officeart/2018/2/layout/IconVerticalSolidList"/>
    <dgm:cxn modelId="{241E6521-EB08-4BC4-B72C-463327E7E1B0}" type="presParOf" srcId="{7D7967C8-9904-42BC-BC3D-173E75926AC0}" destId="{6C207200-501E-4AB3-BA04-AB2FC9EDDD32}" srcOrd="1" destOrd="0" presId="urn:microsoft.com/office/officeart/2018/2/layout/IconVerticalSolidList"/>
    <dgm:cxn modelId="{4C8A9C90-2D5B-4100-9B73-016DE83F9193}" type="presParOf" srcId="{7D7967C8-9904-42BC-BC3D-173E75926AC0}" destId="{D2847A81-4F4B-4FF3-A8A6-91BC469D3E2A}" srcOrd="2" destOrd="0" presId="urn:microsoft.com/office/officeart/2018/2/layout/IconVerticalSolidList"/>
    <dgm:cxn modelId="{53CB4DC4-3BDA-456E-AA91-B88C11A8158F}" type="presParOf" srcId="{7D7967C8-9904-42BC-BC3D-173E75926AC0}" destId="{411B08EF-0465-47AC-B054-BB3A41BFCAD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112EBD-6B97-4C0A-9B63-F6B5C32BB3BA}">
      <dsp:nvSpPr>
        <dsp:cNvPr id="0" name=""/>
        <dsp:cNvSpPr/>
      </dsp:nvSpPr>
      <dsp:spPr>
        <a:xfrm>
          <a:off x="0" y="462758"/>
          <a:ext cx="6391275" cy="1039252"/>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a:t>Exploratory data analysis (EDA) method was used in this study to analyze the data. </a:t>
          </a:r>
          <a:endParaRPr lang="en-US" sz="1900" kern="1200" dirty="0"/>
        </a:p>
      </dsp:txBody>
      <dsp:txXfrm>
        <a:off x="50732" y="513490"/>
        <a:ext cx="6289811" cy="937788"/>
      </dsp:txXfrm>
    </dsp:sp>
    <dsp:sp modelId="{320EF18F-94AF-445E-980A-2586E97551C8}">
      <dsp:nvSpPr>
        <dsp:cNvPr id="0" name=""/>
        <dsp:cNvSpPr/>
      </dsp:nvSpPr>
      <dsp:spPr>
        <a:xfrm>
          <a:off x="0" y="1556731"/>
          <a:ext cx="6391275" cy="1039252"/>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a:t>Customer was the control variable</a:t>
          </a:r>
          <a:endParaRPr lang="en-US" sz="1900" kern="1200"/>
        </a:p>
      </dsp:txBody>
      <dsp:txXfrm>
        <a:off x="50732" y="1607463"/>
        <a:ext cx="6289811" cy="937788"/>
      </dsp:txXfrm>
    </dsp:sp>
    <dsp:sp modelId="{C239D253-3F3B-4D69-9E1E-EDB6DB9735B4}">
      <dsp:nvSpPr>
        <dsp:cNvPr id="0" name=""/>
        <dsp:cNvSpPr/>
      </dsp:nvSpPr>
      <dsp:spPr>
        <a:xfrm>
          <a:off x="0" y="2650703"/>
          <a:ext cx="6391275" cy="1039252"/>
        </a:xfrm>
        <a:prstGeom prst="roundRect">
          <a:avLst/>
        </a:prstGeom>
        <a:solidFill>
          <a:schemeClr val="tx1">
            <a:lumMod val="65000"/>
            <a:lumOff val="3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a:t>Model building which includes defining the purpose if model, determine the model boundary, build the model, create an interface and export the model.</a:t>
          </a:r>
          <a:endParaRPr lang="en-US" sz="1900" kern="1200" dirty="0"/>
        </a:p>
      </dsp:txBody>
      <dsp:txXfrm>
        <a:off x="50732" y="2701435"/>
        <a:ext cx="6289811" cy="937788"/>
      </dsp:txXfrm>
    </dsp:sp>
    <dsp:sp modelId="{D9318D5A-0D17-4DBA-9739-0474631FAB80}">
      <dsp:nvSpPr>
        <dsp:cNvPr id="0" name=""/>
        <dsp:cNvSpPr/>
      </dsp:nvSpPr>
      <dsp:spPr>
        <a:xfrm>
          <a:off x="0" y="3744676"/>
          <a:ext cx="6391275" cy="1039252"/>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1" i="0" kern="1200" dirty="0"/>
            <a:t>Evaluating machine learning algorithm is an essential part of project.</a:t>
          </a:r>
          <a:endParaRPr lang="en-US" sz="1900" kern="1200" dirty="0"/>
        </a:p>
      </dsp:txBody>
      <dsp:txXfrm>
        <a:off x="50732" y="3795408"/>
        <a:ext cx="6289811" cy="937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6574DB-A701-4F59-BF63-D6FF095A2B71}">
      <dsp:nvSpPr>
        <dsp:cNvPr id="0" name=""/>
        <dsp:cNvSpPr/>
      </dsp:nvSpPr>
      <dsp:spPr>
        <a:xfrm>
          <a:off x="0" y="4098"/>
          <a:ext cx="6391275" cy="873081"/>
        </a:xfrm>
        <a:prstGeom prst="roundRect">
          <a:avLst>
            <a:gd name="adj" fmla="val 10000"/>
          </a:avLst>
        </a:prstGeom>
        <a:solidFill>
          <a:schemeClr val="tx1">
            <a:lumMod val="75000"/>
            <a:lumOff val="25000"/>
          </a:schemeClr>
        </a:solidFill>
        <a:ln>
          <a:noFill/>
        </a:ln>
        <a:effectLst/>
      </dsp:spPr>
      <dsp:style>
        <a:lnRef idx="0">
          <a:scrgbClr r="0" g="0" b="0"/>
        </a:lnRef>
        <a:fillRef idx="1">
          <a:scrgbClr r="0" g="0" b="0"/>
        </a:fillRef>
        <a:effectRef idx="0">
          <a:scrgbClr r="0" g="0" b="0"/>
        </a:effectRef>
        <a:fontRef idx="minor"/>
      </dsp:style>
    </dsp:sp>
    <dsp:sp modelId="{0E45A60E-C77D-45F2-AFC3-F510D35E8F20}">
      <dsp:nvSpPr>
        <dsp:cNvPr id="0" name=""/>
        <dsp:cNvSpPr/>
      </dsp:nvSpPr>
      <dsp:spPr>
        <a:xfrm>
          <a:off x="264107" y="200542"/>
          <a:ext cx="480194" cy="480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5BC807-3C34-47BA-A5AF-9B29237918A9}">
      <dsp:nvSpPr>
        <dsp:cNvPr id="0" name=""/>
        <dsp:cNvSpPr/>
      </dsp:nvSpPr>
      <dsp:spPr>
        <a:xfrm>
          <a:off x="1008409" y="4098"/>
          <a:ext cx="5382865"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b="1" i="0" kern="1200"/>
            <a:t>The data was analyzed using python software</a:t>
          </a:r>
          <a:endParaRPr lang="en-US" sz="1600" kern="1200"/>
        </a:p>
      </dsp:txBody>
      <dsp:txXfrm>
        <a:off x="1008409" y="4098"/>
        <a:ext cx="5382865" cy="873081"/>
      </dsp:txXfrm>
    </dsp:sp>
    <dsp:sp modelId="{337A6AFB-A8A9-420B-8199-F5FCD5BE1B9A}">
      <dsp:nvSpPr>
        <dsp:cNvPr id="0" name=""/>
        <dsp:cNvSpPr/>
      </dsp:nvSpPr>
      <dsp:spPr>
        <a:xfrm>
          <a:off x="0" y="1095450"/>
          <a:ext cx="6391275" cy="873081"/>
        </a:xfrm>
        <a:prstGeom prst="roundRect">
          <a:avLst>
            <a:gd name="adj" fmla="val 10000"/>
          </a:avLst>
        </a:prstGeom>
        <a:solidFill>
          <a:schemeClr val="tx1">
            <a:lumMod val="65000"/>
            <a:lumOff val="35000"/>
          </a:schemeClr>
        </a:solidFill>
        <a:ln>
          <a:noFill/>
        </a:ln>
        <a:effectLst/>
      </dsp:spPr>
      <dsp:style>
        <a:lnRef idx="0">
          <a:scrgbClr r="0" g="0" b="0"/>
        </a:lnRef>
        <a:fillRef idx="1">
          <a:scrgbClr r="0" g="0" b="0"/>
        </a:fillRef>
        <a:effectRef idx="0">
          <a:scrgbClr r="0" g="0" b="0"/>
        </a:effectRef>
        <a:fontRef idx="minor"/>
      </dsp:style>
    </dsp:sp>
    <dsp:sp modelId="{31A7049D-DD1E-4349-9D21-676D0040744F}">
      <dsp:nvSpPr>
        <dsp:cNvPr id="0" name=""/>
        <dsp:cNvSpPr/>
      </dsp:nvSpPr>
      <dsp:spPr>
        <a:xfrm>
          <a:off x="264107" y="1291894"/>
          <a:ext cx="480194" cy="480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19D9AE-8EB7-4711-96F7-F7CBC0E8C2CE}">
      <dsp:nvSpPr>
        <dsp:cNvPr id="0" name=""/>
        <dsp:cNvSpPr/>
      </dsp:nvSpPr>
      <dsp:spPr>
        <a:xfrm>
          <a:off x="1008409" y="1095450"/>
          <a:ext cx="5382865"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b="1" i="0" kern="1200"/>
            <a:t>The libraries used are </a:t>
          </a:r>
          <a:endParaRPr lang="en-US" sz="1600" kern="1200"/>
        </a:p>
      </dsp:txBody>
      <dsp:txXfrm>
        <a:off x="1008409" y="1095450"/>
        <a:ext cx="5382865" cy="873081"/>
      </dsp:txXfrm>
    </dsp:sp>
    <dsp:sp modelId="{93458FB4-7121-4F95-91E4-B0652D0D3114}">
      <dsp:nvSpPr>
        <dsp:cNvPr id="0" name=""/>
        <dsp:cNvSpPr/>
      </dsp:nvSpPr>
      <dsp:spPr>
        <a:xfrm>
          <a:off x="0" y="2186802"/>
          <a:ext cx="6391275" cy="873081"/>
        </a:xfrm>
        <a:prstGeom prst="roundRect">
          <a:avLst>
            <a:gd name="adj" fmla="val 10000"/>
          </a:avLst>
        </a:prstGeom>
        <a:solidFill>
          <a:schemeClr val="tx1">
            <a:lumMod val="50000"/>
            <a:lumOff val="50000"/>
          </a:schemeClr>
        </a:solidFill>
        <a:ln>
          <a:noFill/>
        </a:ln>
        <a:effectLst/>
      </dsp:spPr>
      <dsp:style>
        <a:lnRef idx="0">
          <a:scrgbClr r="0" g="0" b="0"/>
        </a:lnRef>
        <a:fillRef idx="1">
          <a:scrgbClr r="0" g="0" b="0"/>
        </a:fillRef>
        <a:effectRef idx="0">
          <a:scrgbClr r="0" g="0" b="0"/>
        </a:effectRef>
        <a:fontRef idx="minor"/>
      </dsp:style>
    </dsp:sp>
    <dsp:sp modelId="{75B982A1-6307-4339-B5E7-FCA079D3A5E5}">
      <dsp:nvSpPr>
        <dsp:cNvPr id="0" name=""/>
        <dsp:cNvSpPr/>
      </dsp:nvSpPr>
      <dsp:spPr>
        <a:xfrm>
          <a:off x="264107" y="2383246"/>
          <a:ext cx="480194" cy="4801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E5CA079-B113-4CD5-B4B3-E8B700390AB1}">
      <dsp:nvSpPr>
        <dsp:cNvPr id="0" name=""/>
        <dsp:cNvSpPr/>
      </dsp:nvSpPr>
      <dsp:spPr>
        <a:xfrm>
          <a:off x="1008409" y="2186802"/>
          <a:ext cx="5382865"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b="1" i="0" kern="1200"/>
            <a:t>Numpy, pandas, plotly, matplotlib, seaborn, sklearn.</a:t>
          </a:r>
          <a:endParaRPr lang="en-US" sz="1600" kern="1200"/>
        </a:p>
      </dsp:txBody>
      <dsp:txXfrm>
        <a:off x="1008409" y="2186802"/>
        <a:ext cx="5382865" cy="873081"/>
      </dsp:txXfrm>
    </dsp:sp>
    <dsp:sp modelId="{E1F33274-3DD3-4C92-9B10-EE86C47FE55A}">
      <dsp:nvSpPr>
        <dsp:cNvPr id="0" name=""/>
        <dsp:cNvSpPr/>
      </dsp:nvSpPr>
      <dsp:spPr>
        <a:xfrm>
          <a:off x="0" y="3278154"/>
          <a:ext cx="6391275" cy="873081"/>
        </a:xfrm>
        <a:prstGeom prst="roundRect">
          <a:avLst>
            <a:gd name="adj" fmla="val 10000"/>
          </a:avLst>
        </a:prstGeom>
        <a:solidFill>
          <a:schemeClr val="bg1">
            <a:lumMod val="65000"/>
          </a:schemeClr>
        </a:solidFill>
        <a:ln>
          <a:noFill/>
        </a:ln>
        <a:effectLst/>
      </dsp:spPr>
      <dsp:style>
        <a:lnRef idx="0">
          <a:scrgbClr r="0" g="0" b="0"/>
        </a:lnRef>
        <a:fillRef idx="1">
          <a:scrgbClr r="0" g="0" b="0"/>
        </a:fillRef>
        <a:effectRef idx="0">
          <a:scrgbClr r="0" g="0" b="0"/>
        </a:effectRef>
        <a:fontRef idx="minor"/>
      </dsp:style>
    </dsp:sp>
    <dsp:sp modelId="{A217091E-9E92-4504-AEA1-1B189FA6DAA2}">
      <dsp:nvSpPr>
        <dsp:cNvPr id="0" name=""/>
        <dsp:cNvSpPr/>
      </dsp:nvSpPr>
      <dsp:spPr>
        <a:xfrm>
          <a:off x="264107" y="3474597"/>
          <a:ext cx="480194" cy="4801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8F8093-66CA-40B9-A9CD-F6339F80977C}">
      <dsp:nvSpPr>
        <dsp:cNvPr id="0" name=""/>
        <dsp:cNvSpPr/>
      </dsp:nvSpPr>
      <dsp:spPr>
        <a:xfrm>
          <a:off x="1008409" y="3278154"/>
          <a:ext cx="5382865"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b="1" i="0" kern="1200"/>
            <a:t>Exploratory data analysis (EDA) is an approach to analyse data sets &amp; to summarize their main characteristics, often with visual methods.</a:t>
          </a:r>
          <a:endParaRPr lang="en-US" sz="1600" kern="1200"/>
        </a:p>
      </dsp:txBody>
      <dsp:txXfrm>
        <a:off x="1008409" y="3278154"/>
        <a:ext cx="5382865" cy="873081"/>
      </dsp:txXfrm>
    </dsp:sp>
    <dsp:sp modelId="{2E0B4669-2194-4F57-9683-A5C1AB654DB4}">
      <dsp:nvSpPr>
        <dsp:cNvPr id="0" name=""/>
        <dsp:cNvSpPr/>
      </dsp:nvSpPr>
      <dsp:spPr>
        <a:xfrm>
          <a:off x="0" y="4369506"/>
          <a:ext cx="6391275" cy="873081"/>
        </a:xfrm>
        <a:prstGeom prst="roundRect">
          <a:avLst>
            <a:gd name="adj" fmla="val 10000"/>
          </a:avLst>
        </a:prstGeom>
        <a:solidFill>
          <a:schemeClr val="bg1">
            <a:lumMod val="75000"/>
          </a:schemeClr>
        </a:solidFill>
        <a:ln>
          <a:noFill/>
        </a:ln>
        <a:effectLst/>
      </dsp:spPr>
      <dsp:style>
        <a:lnRef idx="0">
          <a:scrgbClr r="0" g="0" b="0"/>
        </a:lnRef>
        <a:fillRef idx="1">
          <a:scrgbClr r="0" g="0" b="0"/>
        </a:fillRef>
        <a:effectRef idx="0">
          <a:scrgbClr r="0" g="0" b="0"/>
        </a:effectRef>
        <a:fontRef idx="minor"/>
      </dsp:style>
    </dsp:sp>
    <dsp:sp modelId="{6C207200-501E-4AB3-BA04-AB2FC9EDDD32}">
      <dsp:nvSpPr>
        <dsp:cNvPr id="0" name=""/>
        <dsp:cNvSpPr/>
      </dsp:nvSpPr>
      <dsp:spPr>
        <a:xfrm>
          <a:off x="264107" y="4565949"/>
          <a:ext cx="480194" cy="4801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1B08EF-0465-47AC-B054-BB3A41BFCAD3}">
      <dsp:nvSpPr>
        <dsp:cNvPr id="0" name=""/>
        <dsp:cNvSpPr/>
      </dsp:nvSpPr>
      <dsp:spPr>
        <a:xfrm>
          <a:off x="1008409" y="4369506"/>
          <a:ext cx="5382865" cy="87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01" tIns="92401" rIns="92401" bIns="92401" numCol="1" spcCol="1270" anchor="ctr" anchorCtr="0">
          <a:noAutofit/>
        </a:bodyPr>
        <a:lstStyle/>
        <a:p>
          <a:pPr marL="0" lvl="0" indent="0" algn="l" defTabSz="711200">
            <a:lnSpc>
              <a:spcPct val="90000"/>
            </a:lnSpc>
            <a:spcBef>
              <a:spcPct val="0"/>
            </a:spcBef>
            <a:spcAft>
              <a:spcPct val="35000"/>
            </a:spcAft>
            <a:buNone/>
          </a:pPr>
          <a:r>
            <a:rPr lang="en-US" sz="1600" b="1" i="0" kern="1200" dirty="0"/>
            <a:t>A Statistical model can be used or not, but primarily EDA is for seeing what the data can tell us beyond the formal modelling or hypothesis</a:t>
          </a:r>
          <a:endParaRPr lang="en-US" sz="1600" kern="1200" dirty="0"/>
        </a:p>
      </dsp:txBody>
      <dsp:txXfrm>
        <a:off x="1008409" y="4369506"/>
        <a:ext cx="5382865" cy="87308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2T18:23:05.729"/>
    </inkml:context>
    <inkml:brush xml:id="br0">
      <inkml:brushProperty name="width" value="0.05" units="cm"/>
      <inkml:brushProperty name="height" value="0.05" units="cm"/>
      <inkml:brushProperty name="ignorePressure" value="1"/>
    </inkml:brush>
  </inkml:definitions>
  <inkml:trace contextRef="#ctx0" brushRef="#br0">1 0,'4784'2652,"-4746"-2631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2T18:23:07.455"/>
    </inkml:context>
    <inkml:brush xml:id="br0">
      <inkml:brushProperty name="width" value="0.05" units="cm"/>
      <inkml:brushProperty name="height" value="0.05" units="cm"/>
      <inkml:brushProperty name="ignorePressure" value="1"/>
    </inkml:brush>
  </inkml:definitions>
  <inkml:trace contextRef="#ctx0" brushRef="#br0">0 0,'4590'2544,"-4553"-2523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2T18:23:17.995"/>
    </inkml:context>
    <inkml:brush xml:id="br0">
      <inkml:brushProperty name="width" value="0.05" units="cm"/>
      <inkml:brushProperty name="height" value="0.05" units="cm"/>
      <inkml:brushProperty name="ignorePressure" value="1"/>
    </inkml:brush>
  </inkml:definitions>
  <inkml:trace contextRef="#ctx0" brushRef="#br0">0 3240,'4115'-3215,"-4084"3190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5-12T18:23:19.773"/>
    </inkml:context>
    <inkml:brush xml:id="br0">
      <inkml:brushProperty name="width" value="0.05" units="cm"/>
      <inkml:brushProperty name="height" value="0.05" units="cm"/>
      <inkml:brushProperty name="ignorePressure" value="1"/>
    </inkml:brush>
  </inkml:definitions>
  <inkml:trace contextRef="#ctx0" brushRef="#br0">3887 0,'-3862'3018,"3837"-2999</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5/12/2024</a:t>
            </a:fld>
            <a:endParaRPr lang="en-US" dirty="0"/>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772679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5/12/2024</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409734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5/12/2024</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4160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5/12/2024</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5770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5/12/2024</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6687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5/12/2024</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36940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5/12/2024</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38080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5/12/2024</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031440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5/12/2024</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51270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5/12/2024</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0371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5/12/2024</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92828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5/12/2024</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dirty="0">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43855450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01" r:id="rId3"/>
    <p:sldLayoutId id="2147483702" r:id="rId4"/>
    <p:sldLayoutId id="2147483703" r:id="rId5"/>
    <p:sldLayoutId id="2147483704" r:id="rId6"/>
    <p:sldLayoutId id="2147483705" r:id="rId7"/>
    <p:sldLayoutId id="2147483709" r:id="rId8"/>
    <p:sldLayoutId id="2147483706" r:id="rId9"/>
    <p:sldLayoutId id="2147483707" r:id="rId10"/>
    <p:sldLayoutId id="2147483708"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customXml" Target="../ink/ink2.xml"/><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customXml" Target="../ink/ink4.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7FDDF72-DE39-4F99-A3C1-DD9D7815D7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5E4ECE80-3AD1-450C-B62A-98788F193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 name="Picture 3" descr="Neon 3D circle art">
            <a:extLst>
              <a:ext uri="{FF2B5EF4-FFF2-40B4-BE49-F238E27FC236}">
                <a16:creationId xmlns:a16="http://schemas.microsoft.com/office/drawing/2014/main" id="{64A91F0E-2CDC-298F-5CD2-35BE11CE0E19}"/>
              </a:ext>
            </a:extLst>
          </p:cNvPr>
          <p:cNvPicPr>
            <a:picLocks noChangeAspect="1"/>
          </p:cNvPicPr>
          <p:nvPr/>
        </p:nvPicPr>
        <p:blipFill rotWithShape="1">
          <a:blip r:embed="rId2">
            <a:alphaModFix amt="40000"/>
          </a:blip>
          <a:srcRect t="21325" r="-1" b="-1"/>
          <a:stretch/>
        </p:blipFill>
        <p:spPr>
          <a:xfrm>
            <a:off x="3048" y="10"/>
            <a:ext cx="12188952" cy="6856614"/>
          </a:xfrm>
          <a:prstGeom prst="rect">
            <a:avLst/>
          </a:prstGeom>
        </p:spPr>
      </p:pic>
      <p:sp>
        <p:nvSpPr>
          <p:cNvPr id="2" name="Title 1">
            <a:extLst>
              <a:ext uri="{FF2B5EF4-FFF2-40B4-BE49-F238E27FC236}">
                <a16:creationId xmlns:a16="http://schemas.microsoft.com/office/drawing/2014/main" id="{40E5A2AE-96F2-CA83-2A8A-4DC4103B5748}"/>
              </a:ext>
            </a:extLst>
          </p:cNvPr>
          <p:cNvSpPr>
            <a:spLocks noGrp="1"/>
          </p:cNvSpPr>
          <p:nvPr>
            <p:ph type="ctrTitle"/>
          </p:nvPr>
        </p:nvSpPr>
        <p:spPr>
          <a:xfrm>
            <a:off x="996275" y="744909"/>
            <a:ext cx="10190071" cy="3145855"/>
          </a:xfrm>
        </p:spPr>
        <p:txBody>
          <a:bodyPr anchor="b">
            <a:normAutofit/>
          </a:bodyPr>
          <a:lstStyle/>
          <a:p>
            <a:r>
              <a:rPr lang="en-US" sz="5200" b="1" dirty="0">
                <a:solidFill>
                  <a:srgbClr val="FFFFFF"/>
                </a:solidFill>
              </a:rPr>
              <a:t>MACHINE LEARNING MODEL FOR CUSTOMER CHURN PREDICTION</a:t>
            </a:r>
            <a:endParaRPr lang="en-IN" sz="5200" b="1" dirty="0">
              <a:solidFill>
                <a:srgbClr val="FFFFFF"/>
              </a:solidFill>
            </a:endParaRPr>
          </a:p>
        </p:txBody>
      </p:sp>
      <p:sp>
        <p:nvSpPr>
          <p:cNvPr id="3" name="Subtitle 2">
            <a:extLst>
              <a:ext uri="{FF2B5EF4-FFF2-40B4-BE49-F238E27FC236}">
                <a16:creationId xmlns:a16="http://schemas.microsoft.com/office/drawing/2014/main" id="{D35A6FD9-1321-B00E-47BF-639B14F55CE1}"/>
              </a:ext>
            </a:extLst>
          </p:cNvPr>
          <p:cNvSpPr>
            <a:spLocks noGrp="1"/>
          </p:cNvSpPr>
          <p:nvPr>
            <p:ph type="subTitle" idx="1"/>
          </p:nvPr>
        </p:nvSpPr>
        <p:spPr>
          <a:xfrm>
            <a:off x="1218709" y="5034116"/>
            <a:ext cx="3284466" cy="1092281"/>
          </a:xfrm>
        </p:spPr>
        <p:txBody>
          <a:bodyPr anchor="t">
            <a:normAutofit fontScale="77500" lnSpcReduction="20000"/>
          </a:bodyPr>
          <a:lstStyle/>
          <a:p>
            <a:pPr algn="l"/>
            <a:r>
              <a:rPr lang="en-US" sz="2200" dirty="0">
                <a:solidFill>
                  <a:srgbClr val="FFFFFF"/>
                </a:solidFill>
              </a:rPr>
              <a:t>Name: B. Manohar</a:t>
            </a:r>
          </a:p>
          <a:p>
            <a:pPr algn="l"/>
            <a:r>
              <a:rPr lang="en-US" sz="2200" dirty="0">
                <a:solidFill>
                  <a:srgbClr val="FFFFFF"/>
                </a:solidFill>
              </a:rPr>
              <a:t>Reg No: 12100789</a:t>
            </a:r>
          </a:p>
          <a:p>
            <a:pPr algn="l"/>
            <a:r>
              <a:rPr lang="en-US" sz="2200" dirty="0">
                <a:solidFill>
                  <a:srgbClr val="FFFFFF"/>
                </a:solidFill>
              </a:rPr>
              <a:t>Roll No: 04</a:t>
            </a:r>
            <a:endParaRPr lang="en-IN" sz="2200" dirty="0">
              <a:solidFill>
                <a:srgbClr val="FFFFFF"/>
              </a:solidFill>
            </a:endParaRPr>
          </a:p>
        </p:txBody>
      </p:sp>
    </p:spTree>
    <p:extLst>
      <p:ext uri="{BB962C8B-B14F-4D97-AF65-F5344CB8AC3E}">
        <p14:creationId xmlns:p14="http://schemas.microsoft.com/office/powerpoint/2010/main" val="3072517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DB6B5A-853B-4090-7BA2-41DD97A2B4B7}"/>
              </a:ext>
            </a:extLst>
          </p:cNvPr>
          <p:cNvSpPr txBox="1"/>
          <p:nvPr/>
        </p:nvSpPr>
        <p:spPr>
          <a:xfrm>
            <a:off x="4714211" y="845574"/>
            <a:ext cx="2763577" cy="646331"/>
          </a:xfrm>
          <a:prstGeom prst="rect">
            <a:avLst/>
          </a:prstGeom>
          <a:noFill/>
        </p:spPr>
        <p:txBody>
          <a:bodyPr wrap="none" rtlCol="0">
            <a:spAutoFit/>
          </a:bodyPr>
          <a:lstStyle/>
          <a:p>
            <a:r>
              <a:rPr lang="en-US" sz="3600" dirty="0"/>
              <a:t>Introduction</a:t>
            </a:r>
            <a:endParaRPr lang="en-IN" sz="3600" dirty="0"/>
          </a:p>
        </p:txBody>
      </p:sp>
      <p:sp>
        <p:nvSpPr>
          <p:cNvPr id="3" name="TextBox 2">
            <a:extLst>
              <a:ext uri="{FF2B5EF4-FFF2-40B4-BE49-F238E27FC236}">
                <a16:creationId xmlns:a16="http://schemas.microsoft.com/office/drawing/2014/main" id="{4C51726C-4A30-9159-A296-D39661657854}"/>
              </a:ext>
            </a:extLst>
          </p:cNvPr>
          <p:cNvSpPr txBox="1"/>
          <p:nvPr/>
        </p:nvSpPr>
        <p:spPr>
          <a:xfrm>
            <a:off x="2005780" y="1993349"/>
            <a:ext cx="8436077" cy="3170099"/>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Customer Churn is common issue prevailing in service sector. This issue is highly faced by credit card companies, cable services, telecom services etc. The customer churn metrics aid in the improvement of customer retention. </a:t>
            </a:r>
          </a:p>
          <a:p>
            <a:pPr algn="just"/>
            <a:endParaRPr lang="en-IN" sz="2000" dirty="0"/>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predict customer churn in banking, companies typically collect and analyze large amounts of customer data, such as credit score, balance, usage patterns, customer demographics, and loans. The data is then used to build predictive models that can identify customers who are at risk of leaving the service.</a:t>
            </a:r>
          </a:p>
          <a:p>
            <a:pPr marL="285750" indent="-285750" algn="just">
              <a:buFont typeface="Arial" panose="020B0604020202020204" pitchFamily="34" charset="0"/>
              <a:buChar char="•"/>
            </a:pPr>
            <a:endParaRPr lang="en-IN" sz="2000" dirty="0"/>
          </a:p>
        </p:txBody>
      </p:sp>
    </p:spTree>
    <p:extLst>
      <p:ext uri="{BB962C8B-B14F-4D97-AF65-F5344CB8AC3E}">
        <p14:creationId xmlns:p14="http://schemas.microsoft.com/office/powerpoint/2010/main" val="193067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C78095-31C9-2C2B-882C-10D77C3F1F2F}"/>
              </a:ext>
            </a:extLst>
          </p:cNvPr>
          <p:cNvSpPr txBox="1"/>
          <p:nvPr/>
        </p:nvSpPr>
        <p:spPr>
          <a:xfrm>
            <a:off x="1312607" y="892454"/>
            <a:ext cx="2349909" cy="1200329"/>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To predict the customer churn among Telecom industry </a:t>
            </a:r>
          </a:p>
        </p:txBody>
      </p:sp>
      <p:sp>
        <p:nvSpPr>
          <p:cNvPr id="3" name="TextBox 2">
            <a:extLst>
              <a:ext uri="{FF2B5EF4-FFF2-40B4-BE49-F238E27FC236}">
                <a16:creationId xmlns:a16="http://schemas.microsoft.com/office/drawing/2014/main" id="{E7B4656C-E7EA-8A54-4BB8-46AFC3EAF1B6}"/>
              </a:ext>
            </a:extLst>
          </p:cNvPr>
          <p:cNvSpPr txBox="1"/>
          <p:nvPr/>
        </p:nvSpPr>
        <p:spPr>
          <a:xfrm>
            <a:off x="1312607" y="4140167"/>
            <a:ext cx="2649794"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Usage of machine learning models to build, evaluate and predict the customer churn </a:t>
            </a:r>
          </a:p>
        </p:txBody>
      </p:sp>
      <p:sp>
        <p:nvSpPr>
          <p:cNvPr id="4" name="TextBox 3">
            <a:extLst>
              <a:ext uri="{FF2B5EF4-FFF2-40B4-BE49-F238E27FC236}">
                <a16:creationId xmlns:a16="http://schemas.microsoft.com/office/drawing/2014/main" id="{0D537228-FC14-772D-6F4D-302A75FEB8C0}"/>
              </a:ext>
            </a:extLst>
          </p:cNvPr>
          <p:cNvSpPr txBox="1"/>
          <p:nvPr/>
        </p:nvSpPr>
        <p:spPr>
          <a:xfrm>
            <a:off x="8018205" y="826695"/>
            <a:ext cx="2541638" cy="1200329"/>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Estimating optimal machine learning model for customer churn</a:t>
            </a:r>
          </a:p>
        </p:txBody>
      </p:sp>
      <p:sp>
        <p:nvSpPr>
          <p:cNvPr id="5" name="TextBox 4">
            <a:extLst>
              <a:ext uri="{FF2B5EF4-FFF2-40B4-BE49-F238E27FC236}">
                <a16:creationId xmlns:a16="http://schemas.microsoft.com/office/drawing/2014/main" id="{5F43A34D-6A2F-C203-1CC8-82EB1C581A9F}"/>
              </a:ext>
            </a:extLst>
          </p:cNvPr>
          <p:cNvSpPr txBox="1"/>
          <p:nvPr/>
        </p:nvSpPr>
        <p:spPr>
          <a:xfrm>
            <a:off x="8448367" y="4222248"/>
            <a:ext cx="2349909" cy="923330"/>
          </a:xfrm>
          <a:prstGeom prst="rect">
            <a:avLst/>
          </a:prstGeom>
          <a:noFill/>
        </p:spPr>
        <p:txBody>
          <a:bodyPr wrap="square" rtlCol="0">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Framing out key variables used for churn prediction </a:t>
            </a:r>
          </a:p>
        </p:txBody>
      </p:sp>
      <p:sp>
        <p:nvSpPr>
          <p:cNvPr id="6" name="TextBox 5">
            <a:extLst>
              <a:ext uri="{FF2B5EF4-FFF2-40B4-BE49-F238E27FC236}">
                <a16:creationId xmlns:a16="http://schemas.microsoft.com/office/drawing/2014/main" id="{E28126CE-DA18-64CE-D313-B06887BECACA}"/>
              </a:ext>
            </a:extLst>
          </p:cNvPr>
          <p:cNvSpPr txBox="1"/>
          <p:nvPr/>
        </p:nvSpPr>
        <p:spPr>
          <a:xfrm>
            <a:off x="5273726" y="2767414"/>
            <a:ext cx="1125629" cy="707886"/>
          </a:xfrm>
          <a:prstGeom prst="rect">
            <a:avLst/>
          </a:prstGeom>
          <a:noFill/>
        </p:spPr>
        <p:txBody>
          <a:bodyPr wrap="none" rtlCol="0">
            <a:spAutoFit/>
          </a:bodyPr>
          <a:lstStyle/>
          <a:p>
            <a:r>
              <a:rPr lang="en-US" sz="4000" dirty="0"/>
              <a:t>Aim</a:t>
            </a:r>
            <a:endParaRPr lang="en-IN" sz="2800" dirty="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1A4C92F3-2CF4-C241-2212-F386096D2AA5}"/>
                  </a:ext>
                </a:extLst>
              </p14:cNvPr>
              <p14:cNvContentPartPr/>
              <p14:nvPr/>
            </p14:nvContentPartPr>
            <p14:xfrm>
              <a:off x="3391897" y="1863948"/>
              <a:ext cx="1736640" cy="962640"/>
            </p14:xfrm>
          </p:contentPart>
        </mc:Choice>
        <mc:Fallback>
          <p:pic>
            <p:nvPicPr>
              <p:cNvPr id="9" name="Ink 8">
                <a:extLst>
                  <a:ext uri="{FF2B5EF4-FFF2-40B4-BE49-F238E27FC236}">
                    <a16:creationId xmlns:a16="http://schemas.microsoft.com/office/drawing/2014/main" id="{1A4C92F3-2CF4-C241-2212-F386096D2AA5}"/>
                  </a:ext>
                </a:extLst>
              </p:cNvPr>
              <p:cNvPicPr/>
              <p:nvPr/>
            </p:nvPicPr>
            <p:blipFill>
              <a:blip r:embed="rId4"/>
              <a:stretch>
                <a:fillRect/>
              </a:stretch>
            </p:blipFill>
            <p:spPr>
              <a:xfrm>
                <a:off x="3383257" y="1854948"/>
                <a:ext cx="1754280" cy="98028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0" name="Ink 9">
                <a:extLst>
                  <a:ext uri="{FF2B5EF4-FFF2-40B4-BE49-F238E27FC236}">
                    <a16:creationId xmlns:a16="http://schemas.microsoft.com/office/drawing/2014/main" id="{33AD9424-2439-FECD-2830-E3173029D8D2}"/>
                  </a:ext>
                </a:extLst>
              </p14:cNvPr>
              <p14:cNvContentPartPr/>
              <p14:nvPr/>
            </p14:nvContentPartPr>
            <p14:xfrm>
              <a:off x="6537146" y="3607376"/>
              <a:ext cx="1665659" cy="923330"/>
            </p14:xfrm>
          </p:contentPart>
        </mc:Choice>
        <mc:Fallback>
          <p:pic>
            <p:nvPicPr>
              <p:cNvPr id="10" name="Ink 9">
                <a:extLst>
                  <a:ext uri="{FF2B5EF4-FFF2-40B4-BE49-F238E27FC236}">
                    <a16:creationId xmlns:a16="http://schemas.microsoft.com/office/drawing/2014/main" id="{33AD9424-2439-FECD-2830-E3173029D8D2}"/>
                  </a:ext>
                </a:extLst>
              </p:cNvPr>
              <p:cNvPicPr/>
              <p:nvPr/>
            </p:nvPicPr>
            <p:blipFill>
              <a:blip r:embed="rId6"/>
              <a:stretch>
                <a:fillRect/>
              </a:stretch>
            </p:blipFill>
            <p:spPr>
              <a:xfrm>
                <a:off x="6528146" y="3598377"/>
                <a:ext cx="1683298" cy="940969"/>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1" name="Ink 10">
                <a:extLst>
                  <a:ext uri="{FF2B5EF4-FFF2-40B4-BE49-F238E27FC236}">
                    <a16:creationId xmlns:a16="http://schemas.microsoft.com/office/drawing/2014/main" id="{4CDB6D2F-8E51-1A2F-D97C-7838C06819F8}"/>
                  </a:ext>
                </a:extLst>
              </p14:cNvPr>
              <p14:cNvContentPartPr/>
              <p14:nvPr/>
            </p14:nvContentPartPr>
            <p14:xfrm>
              <a:off x="6525285" y="1633836"/>
              <a:ext cx="1492920" cy="1166400"/>
            </p14:xfrm>
          </p:contentPart>
        </mc:Choice>
        <mc:Fallback>
          <p:pic>
            <p:nvPicPr>
              <p:cNvPr id="11" name="Ink 10">
                <a:extLst>
                  <a:ext uri="{FF2B5EF4-FFF2-40B4-BE49-F238E27FC236}">
                    <a16:creationId xmlns:a16="http://schemas.microsoft.com/office/drawing/2014/main" id="{4CDB6D2F-8E51-1A2F-D97C-7838C06819F8}"/>
                  </a:ext>
                </a:extLst>
              </p:cNvPr>
              <p:cNvPicPr/>
              <p:nvPr/>
            </p:nvPicPr>
            <p:blipFill>
              <a:blip r:embed="rId8"/>
              <a:stretch>
                <a:fillRect/>
              </a:stretch>
            </p:blipFill>
            <p:spPr>
              <a:xfrm>
                <a:off x="6516285" y="1624836"/>
                <a:ext cx="1510560" cy="11840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2" name="Ink 11">
                <a:extLst>
                  <a:ext uri="{FF2B5EF4-FFF2-40B4-BE49-F238E27FC236}">
                    <a16:creationId xmlns:a16="http://schemas.microsoft.com/office/drawing/2014/main" id="{006F8A23-D2F2-111B-2AEA-13A2F4187EC9}"/>
                  </a:ext>
                </a:extLst>
              </p14:cNvPr>
              <p14:cNvContentPartPr/>
              <p14:nvPr/>
            </p14:nvContentPartPr>
            <p14:xfrm>
              <a:off x="3728906" y="3590215"/>
              <a:ext cx="1399631" cy="1093697"/>
            </p14:xfrm>
          </p:contentPart>
        </mc:Choice>
        <mc:Fallback>
          <p:pic>
            <p:nvPicPr>
              <p:cNvPr id="12" name="Ink 11">
                <a:extLst>
                  <a:ext uri="{FF2B5EF4-FFF2-40B4-BE49-F238E27FC236}">
                    <a16:creationId xmlns:a16="http://schemas.microsoft.com/office/drawing/2014/main" id="{006F8A23-D2F2-111B-2AEA-13A2F4187EC9}"/>
                  </a:ext>
                </a:extLst>
              </p:cNvPr>
              <p:cNvPicPr/>
              <p:nvPr/>
            </p:nvPicPr>
            <p:blipFill>
              <a:blip r:embed="rId10"/>
              <a:stretch>
                <a:fillRect/>
              </a:stretch>
            </p:blipFill>
            <p:spPr>
              <a:xfrm>
                <a:off x="3719906" y="3581215"/>
                <a:ext cx="1417270" cy="1111337"/>
              </a:xfrm>
              <a:prstGeom prst="rect">
                <a:avLst/>
              </a:prstGeom>
            </p:spPr>
          </p:pic>
        </mc:Fallback>
      </mc:AlternateContent>
    </p:spTree>
    <p:extLst>
      <p:ext uri="{BB962C8B-B14F-4D97-AF65-F5344CB8AC3E}">
        <p14:creationId xmlns:p14="http://schemas.microsoft.com/office/powerpoint/2010/main" val="2562964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259EBB8-7428-0581-9DEC-BB99EFDCB0AE}"/>
              </a:ext>
            </a:extLst>
          </p:cNvPr>
          <p:cNvSpPr txBox="1"/>
          <p:nvPr/>
        </p:nvSpPr>
        <p:spPr>
          <a:xfrm>
            <a:off x="1032387" y="983226"/>
            <a:ext cx="1549270" cy="523220"/>
          </a:xfrm>
          <a:prstGeom prst="rect">
            <a:avLst/>
          </a:prstGeom>
          <a:noFill/>
        </p:spPr>
        <p:txBody>
          <a:bodyPr wrap="none" rtlCol="0">
            <a:spAutoFit/>
          </a:bodyPr>
          <a:lstStyle/>
          <a:p>
            <a:r>
              <a:rPr lang="en-US" sz="2800" dirty="0"/>
              <a:t>Abstract</a:t>
            </a:r>
            <a:endParaRPr lang="en-IN" sz="2800" dirty="0"/>
          </a:p>
        </p:txBody>
      </p:sp>
      <p:sp>
        <p:nvSpPr>
          <p:cNvPr id="8" name="TextBox 7">
            <a:extLst>
              <a:ext uri="{FF2B5EF4-FFF2-40B4-BE49-F238E27FC236}">
                <a16:creationId xmlns:a16="http://schemas.microsoft.com/office/drawing/2014/main" id="{6EE7244A-BD47-EC4C-C8EE-632BB58E2FC7}"/>
              </a:ext>
            </a:extLst>
          </p:cNvPr>
          <p:cNvSpPr txBox="1"/>
          <p:nvPr/>
        </p:nvSpPr>
        <p:spPr>
          <a:xfrm>
            <a:off x="951363" y="1622193"/>
            <a:ext cx="10127227" cy="4282198"/>
          </a:xfrm>
          <a:prstGeom prst="rect">
            <a:avLst/>
          </a:prstGeom>
          <a:noFill/>
        </p:spPr>
        <p:txBody>
          <a:bodyPr wrap="square" rtlCol="0">
            <a:spAutoFit/>
          </a:bodyPr>
          <a:lstStyle/>
          <a:p>
            <a:pPr algn="just">
              <a:lnSpc>
                <a:spcPct val="115000"/>
              </a:lnSpc>
              <a:spcAft>
                <a:spcPts val="10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Customer churn, the loss of customers to competitors or discontinuation of service, is a significant challenge for banks. Retaining existing customers is considerably cheaper than acquiring new ones, highlighting the importance of churn prediction. This project investigates customer churn prediction in the banking sector using machine learning techniques.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1000"/>
              </a:spcAft>
            </a:pPr>
            <a:r>
              <a:rPr lang="en-IN" sz="1800" kern="0" dirty="0">
                <a:effectLst/>
                <a:latin typeface="Times New Roman" panose="02020603050405020304" pitchFamily="18" charset="0"/>
                <a:ea typeface="Times New Roman" panose="02020603050405020304" pitchFamily="18" charset="0"/>
                <a:cs typeface="Times New Roman" panose="02020603050405020304" pitchFamily="18" charset="0"/>
              </a:rPr>
              <a:t>Through analysis of customer data, including demographics, account information, credit history, and customer service interactions, the project aims to identify key factors associated with customer churn. This will allow banks to develop targeted interventions and retention strategies to address customer dissatisfaction and ultimately reduce churn rates.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IN" sz="1800" dirty="0">
                <a:effectLst/>
                <a:latin typeface="Calibri" panose="020F0502020204030204" pitchFamily="34" charset="0"/>
                <a:ea typeface="Times New Roman" panose="02020603050405020304" pitchFamily="18" charset="0"/>
                <a:cs typeface="Times New Roman" panose="02020603050405020304" pitchFamily="18" charset="0"/>
              </a:rPr>
              <a:t>This project not only identifies key churn factors but also explores the potential for customer segmentation.</a:t>
            </a:r>
            <a:r>
              <a:rPr lang="en-IN" sz="1800" dirty="0">
                <a:effectLst/>
                <a:latin typeface="Calibri" panose="020F0502020204030204" pitchFamily="34" charset="0"/>
                <a:ea typeface="Calibri" panose="020F0502020204030204" pitchFamily="34" charset="0"/>
                <a:cs typeface="Times New Roman" panose="02020603050405020304" pitchFamily="18" charset="0"/>
              </a:rPr>
              <a:t> By segmenting customers based on their churn risk and unique needs, banks can tailor retention efforts for maximum impact. For instance, high-risk customers might benefit from personalized incentives or proactive outreach, while low-risk customers could receive targeted marketing campaigns for new products or services.</a:t>
            </a:r>
            <a:endParaRPr lang="en-IN" dirty="0"/>
          </a:p>
        </p:txBody>
      </p:sp>
    </p:spTree>
    <p:extLst>
      <p:ext uri="{BB962C8B-B14F-4D97-AF65-F5344CB8AC3E}">
        <p14:creationId xmlns:p14="http://schemas.microsoft.com/office/powerpoint/2010/main" val="28418421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63A97-55E1-E401-6066-504741FA566D}"/>
              </a:ext>
            </a:extLst>
          </p:cNvPr>
          <p:cNvSpPr txBox="1"/>
          <p:nvPr/>
        </p:nvSpPr>
        <p:spPr>
          <a:xfrm>
            <a:off x="787079" y="636608"/>
            <a:ext cx="4091569" cy="523220"/>
          </a:xfrm>
          <a:prstGeom prst="rect">
            <a:avLst/>
          </a:prstGeom>
          <a:noFill/>
        </p:spPr>
        <p:txBody>
          <a:bodyPr wrap="none" rtlCol="0">
            <a:spAutoFit/>
          </a:bodyPr>
          <a:lstStyle/>
          <a:p>
            <a:r>
              <a:rPr lang="en-US" sz="2800" dirty="0"/>
              <a:t>Churn Prediction Model</a:t>
            </a:r>
            <a:endParaRPr lang="en-IN" sz="2800" dirty="0"/>
          </a:p>
        </p:txBody>
      </p:sp>
      <p:pic>
        <p:nvPicPr>
          <p:cNvPr id="3" name="Content Placeholder 3">
            <a:extLst>
              <a:ext uri="{FF2B5EF4-FFF2-40B4-BE49-F238E27FC236}">
                <a16:creationId xmlns:a16="http://schemas.microsoft.com/office/drawing/2014/main" id="{2CE366A7-D1DD-3F1F-F5B3-C32D17D3351B}"/>
              </a:ext>
            </a:extLst>
          </p:cNvPr>
          <p:cNvPicPr>
            <a:picLocks noGrp="1" noChangeAspect="1"/>
          </p:cNvPicPr>
          <p:nvPr/>
        </p:nvPicPr>
        <p:blipFill rotWithShape="1">
          <a:blip r:embed="rId3"/>
          <a:srcRect l="8853" t="28470" r="18403" b="12963"/>
          <a:stretch/>
        </p:blipFill>
        <p:spPr>
          <a:xfrm>
            <a:off x="1534799" y="1577624"/>
            <a:ext cx="9525690" cy="4313890"/>
          </a:xfrm>
          <a:prstGeom prst="rect">
            <a:avLst/>
          </a:prstGeom>
        </p:spPr>
      </p:pic>
    </p:spTree>
    <p:extLst>
      <p:ext uri="{BB962C8B-B14F-4D97-AF65-F5344CB8AC3E}">
        <p14:creationId xmlns:p14="http://schemas.microsoft.com/office/powerpoint/2010/main" val="2685184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63A97-55E1-E401-6066-504741FA566D}"/>
              </a:ext>
            </a:extLst>
          </p:cNvPr>
          <p:cNvSpPr txBox="1"/>
          <p:nvPr/>
        </p:nvSpPr>
        <p:spPr>
          <a:xfrm>
            <a:off x="787079" y="636608"/>
            <a:ext cx="3414396" cy="523220"/>
          </a:xfrm>
          <a:prstGeom prst="rect">
            <a:avLst/>
          </a:prstGeom>
          <a:noFill/>
        </p:spPr>
        <p:txBody>
          <a:bodyPr wrap="none" rtlCol="0">
            <a:spAutoFit/>
          </a:bodyPr>
          <a:lstStyle/>
          <a:p>
            <a:r>
              <a:rPr lang="en-US" sz="2800" dirty="0"/>
              <a:t>Dataset Description</a:t>
            </a:r>
            <a:endParaRPr lang="en-IN" sz="2800" dirty="0"/>
          </a:p>
        </p:txBody>
      </p:sp>
      <p:pic>
        <p:nvPicPr>
          <p:cNvPr id="5" name="Picture 4">
            <a:extLst>
              <a:ext uri="{FF2B5EF4-FFF2-40B4-BE49-F238E27FC236}">
                <a16:creationId xmlns:a16="http://schemas.microsoft.com/office/drawing/2014/main" id="{C73B1BFB-6636-2CFF-5B22-354DCD332530}"/>
              </a:ext>
            </a:extLst>
          </p:cNvPr>
          <p:cNvPicPr>
            <a:picLocks noChangeAspect="1"/>
          </p:cNvPicPr>
          <p:nvPr/>
        </p:nvPicPr>
        <p:blipFill>
          <a:blip r:embed="rId3"/>
          <a:stretch>
            <a:fillRect/>
          </a:stretch>
        </p:blipFill>
        <p:spPr>
          <a:xfrm>
            <a:off x="6240266" y="835092"/>
            <a:ext cx="5164655" cy="5187815"/>
          </a:xfrm>
          <a:prstGeom prst="rect">
            <a:avLst/>
          </a:prstGeom>
        </p:spPr>
      </p:pic>
      <p:sp>
        <p:nvSpPr>
          <p:cNvPr id="7" name="TextBox 6">
            <a:extLst>
              <a:ext uri="{FF2B5EF4-FFF2-40B4-BE49-F238E27FC236}">
                <a16:creationId xmlns:a16="http://schemas.microsoft.com/office/drawing/2014/main" id="{DE5288BE-BEE1-3352-1180-0D569380E63F}"/>
              </a:ext>
            </a:extLst>
          </p:cNvPr>
          <p:cNvSpPr txBox="1"/>
          <p:nvPr/>
        </p:nvSpPr>
        <p:spPr>
          <a:xfrm>
            <a:off x="824457" y="1568041"/>
            <a:ext cx="4396414" cy="2308324"/>
          </a:xfrm>
          <a:prstGeom prst="rect">
            <a:avLst/>
          </a:prstGeom>
          <a:noFill/>
        </p:spPr>
        <p:txBody>
          <a:bodyPr wrap="square">
            <a:spAutoFit/>
          </a:bodyPr>
          <a:lstStyle/>
          <a:p>
            <a:pPr marL="285750" indent="-285750">
              <a:buFont typeface="Arial" panose="020B0604020202020204" pitchFamily="34" charset="0"/>
              <a:buChar char="•"/>
            </a:pPr>
            <a:r>
              <a:rPr lang="en-US" sz="2400" dirty="0"/>
              <a:t>The source dataset is basically a comma separated variable. </a:t>
            </a:r>
          </a:p>
          <a:p>
            <a:endParaRPr lang="en-US" sz="2400" dirty="0"/>
          </a:p>
          <a:p>
            <a:pPr marL="285750" indent="-285750">
              <a:buFont typeface="Arial" panose="020B0604020202020204" pitchFamily="34" charset="0"/>
              <a:buChar char="•"/>
            </a:pPr>
            <a:r>
              <a:rPr lang="en-US" sz="2400" dirty="0"/>
              <a:t>There are total 13 columns in the Dataset</a:t>
            </a:r>
          </a:p>
        </p:txBody>
      </p:sp>
    </p:spTree>
    <p:extLst>
      <p:ext uri="{BB962C8B-B14F-4D97-AF65-F5344CB8AC3E}">
        <p14:creationId xmlns:p14="http://schemas.microsoft.com/office/powerpoint/2010/main" val="1263299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463A97-55E1-E401-6066-504741FA566D}"/>
              </a:ext>
            </a:extLst>
          </p:cNvPr>
          <p:cNvSpPr txBox="1"/>
          <p:nvPr/>
        </p:nvSpPr>
        <p:spPr>
          <a:xfrm>
            <a:off x="1006997" y="2782668"/>
            <a:ext cx="2055371" cy="646331"/>
          </a:xfrm>
          <a:prstGeom prst="rect">
            <a:avLst/>
          </a:prstGeom>
          <a:noFill/>
        </p:spPr>
        <p:txBody>
          <a:bodyPr wrap="none" rtlCol="0">
            <a:spAutoFit/>
          </a:bodyPr>
          <a:lstStyle/>
          <a:p>
            <a:r>
              <a:rPr lang="en-US" sz="3600" dirty="0"/>
              <a:t>Methods</a:t>
            </a:r>
            <a:endParaRPr lang="en-IN" sz="3600" dirty="0"/>
          </a:p>
        </p:txBody>
      </p:sp>
      <p:graphicFrame>
        <p:nvGraphicFramePr>
          <p:cNvPr id="3" name="Content Placeholder 2">
            <a:extLst>
              <a:ext uri="{FF2B5EF4-FFF2-40B4-BE49-F238E27FC236}">
                <a16:creationId xmlns:a16="http://schemas.microsoft.com/office/drawing/2014/main" id="{088AD5D9-8DF9-2AE5-350B-BB95CCBA9699}"/>
              </a:ext>
            </a:extLst>
          </p:cNvPr>
          <p:cNvGraphicFramePr>
            <a:graphicFrameLocks noGrp="1"/>
          </p:cNvGraphicFramePr>
          <p:nvPr>
            <p:extLst>
              <p:ext uri="{D42A27DB-BD31-4B8C-83A1-F6EECF244321}">
                <p14:modId xmlns:p14="http://schemas.microsoft.com/office/powerpoint/2010/main" val="2220599753"/>
              </p:ext>
            </p:extLst>
          </p:nvPr>
        </p:nvGraphicFramePr>
        <p:xfrm>
          <a:off x="4543966" y="805655"/>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472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F108290F-D4A1-ED49-7012-EE650994A283}"/>
              </a:ext>
            </a:extLst>
          </p:cNvPr>
          <p:cNvGraphicFramePr>
            <a:graphicFrameLocks noGrp="1"/>
          </p:cNvGraphicFramePr>
          <p:nvPr>
            <p:extLst>
              <p:ext uri="{D42A27DB-BD31-4B8C-83A1-F6EECF244321}">
                <p14:modId xmlns:p14="http://schemas.microsoft.com/office/powerpoint/2010/main" val="1426675849"/>
              </p:ext>
            </p:extLst>
          </p:nvPr>
        </p:nvGraphicFramePr>
        <p:xfrm>
          <a:off x="4810186" y="805656"/>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980BD120-9A5C-AF04-F6BB-57E1E053ABC8}"/>
              </a:ext>
            </a:extLst>
          </p:cNvPr>
          <p:cNvSpPr txBox="1"/>
          <p:nvPr/>
        </p:nvSpPr>
        <p:spPr>
          <a:xfrm>
            <a:off x="1006997" y="2782668"/>
            <a:ext cx="2055371" cy="646331"/>
          </a:xfrm>
          <a:prstGeom prst="rect">
            <a:avLst/>
          </a:prstGeom>
          <a:noFill/>
        </p:spPr>
        <p:txBody>
          <a:bodyPr wrap="none" rtlCol="0">
            <a:spAutoFit/>
          </a:bodyPr>
          <a:lstStyle/>
          <a:p>
            <a:r>
              <a:rPr lang="en-US" sz="3600" dirty="0"/>
              <a:t>Methods</a:t>
            </a:r>
            <a:endParaRPr lang="en-IN" sz="3600" dirty="0"/>
          </a:p>
        </p:txBody>
      </p:sp>
    </p:spTree>
    <p:extLst>
      <p:ext uri="{BB962C8B-B14F-4D97-AF65-F5344CB8AC3E}">
        <p14:creationId xmlns:p14="http://schemas.microsoft.com/office/powerpoint/2010/main" val="322721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7A3F9-3B5D-4524-521E-E4D019C8BEAC}"/>
              </a:ext>
            </a:extLst>
          </p:cNvPr>
          <p:cNvSpPr txBox="1"/>
          <p:nvPr/>
        </p:nvSpPr>
        <p:spPr>
          <a:xfrm>
            <a:off x="3565003" y="844953"/>
            <a:ext cx="5347298" cy="584775"/>
          </a:xfrm>
          <a:prstGeom prst="rect">
            <a:avLst/>
          </a:prstGeom>
          <a:noFill/>
        </p:spPr>
        <p:txBody>
          <a:bodyPr wrap="none" rtlCol="0">
            <a:spAutoFit/>
          </a:bodyPr>
          <a:lstStyle/>
          <a:p>
            <a:r>
              <a:rPr lang="en-US" sz="3200" dirty="0"/>
              <a:t>Accuracy of Various Models</a:t>
            </a:r>
            <a:endParaRPr lang="en-IN" sz="3200" dirty="0"/>
          </a:p>
        </p:txBody>
      </p:sp>
      <p:graphicFrame>
        <p:nvGraphicFramePr>
          <p:cNvPr id="6" name="Table 5">
            <a:extLst>
              <a:ext uri="{FF2B5EF4-FFF2-40B4-BE49-F238E27FC236}">
                <a16:creationId xmlns:a16="http://schemas.microsoft.com/office/drawing/2014/main" id="{51FCBBF8-9AAE-364A-6A50-07281EF0EBF7}"/>
              </a:ext>
            </a:extLst>
          </p:cNvPr>
          <p:cNvGraphicFramePr>
            <a:graphicFrameLocks noGrp="1"/>
          </p:cNvGraphicFramePr>
          <p:nvPr>
            <p:extLst>
              <p:ext uri="{D42A27DB-BD31-4B8C-83A1-F6EECF244321}">
                <p14:modId xmlns:p14="http://schemas.microsoft.com/office/powerpoint/2010/main" val="1006242298"/>
              </p:ext>
            </p:extLst>
          </p:nvPr>
        </p:nvGraphicFramePr>
        <p:xfrm>
          <a:off x="2313548" y="2316972"/>
          <a:ext cx="8128000" cy="2595880"/>
        </p:xfrm>
        <a:graphic>
          <a:graphicData uri="http://schemas.openxmlformats.org/drawingml/2006/table">
            <a:tbl>
              <a:tblPr firstRow="1" bandRow="1">
                <a:tableStyleId>{073A0DAA-6AF3-43AB-8588-CEC1D06C72B9}</a:tableStyleId>
              </a:tblPr>
              <a:tblGrid>
                <a:gridCol w="4064000">
                  <a:extLst>
                    <a:ext uri="{9D8B030D-6E8A-4147-A177-3AD203B41FA5}">
                      <a16:colId xmlns:a16="http://schemas.microsoft.com/office/drawing/2014/main" val="1534203354"/>
                    </a:ext>
                  </a:extLst>
                </a:gridCol>
                <a:gridCol w="4064000">
                  <a:extLst>
                    <a:ext uri="{9D8B030D-6E8A-4147-A177-3AD203B41FA5}">
                      <a16:colId xmlns:a16="http://schemas.microsoft.com/office/drawing/2014/main" val="4168768124"/>
                    </a:ext>
                  </a:extLst>
                </a:gridCol>
              </a:tblGrid>
              <a:tr h="370840">
                <a:tc>
                  <a:txBody>
                    <a:bodyPr/>
                    <a:lstStyle/>
                    <a:p>
                      <a:r>
                        <a:rPr lang="en-US" dirty="0"/>
                        <a:t>Models</a:t>
                      </a:r>
                      <a:endParaRPr lang="en-IN" dirty="0"/>
                    </a:p>
                  </a:txBody>
                  <a:tcPr/>
                </a:tc>
                <a:tc>
                  <a:txBody>
                    <a:bodyPr/>
                    <a:lstStyle/>
                    <a:p>
                      <a:r>
                        <a:rPr lang="en-US" dirty="0"/>
                        <a:t>Accuracy</a:t>
                      </a:r>
                      <a:endParaRPr lang="en-IN" dirty="0"/>
                    </a:p>
                  </a:txBody>
                  <a:tcPr/>
                </a:tc>
                <a:extLst>
                  <a:ext uri="{0D108BD9-81ED-4DB2-BD59-A6C34878D82A}">
                    <a16:rowId xmlns:a16="http://schemas.microsoft.com/office/drawing/2014/main" val="267094853"/>
                  </a:ext>
                </a:extLst>
              </a:tr>
              <a:tr h="370840">
                <a:tc>
                  <a:txBody>
                    <a:bodyPr/>
                    <a:lstStyle/>
                    <a:p>
                      <a:r>
                        <a:rPr lang="en-US" dirty="0"/>
                        <a:t>Random Forest Classifier</a:t>
                      </a:r>
                      <a:endParaRPr lang="en-IN" dirty="0"/>
                    </a:p>
                  </a:txBody>
                  <a:tcPr/>
                </a:tc>
                <a:tc>
                  <a:txBody>
                    <a:bodyPr/>
                    <a:lstStyle/>
                    <a:p>
                      <a:r>
                        <a:rPr lang="en-US" dirty="0"/>
                        <a:t>87%</a:t>
                      </a:r>
                      <a:endParaRPr lang="en-IN" dirty="0"/>
                    </a:p>
                  </a:txBody>
                  <a:tcPr/>
                </a:tc>
                <a:extLst>
                  <a:ext uri="{0D108BD9-81ED-4DB2-BD59-A6C34878D82A}">
                    <a16:rowId xmlns:a16="http://schemas.microsoft.com/office/drawing/2014/main" val="3289450745"/>
                  </a:ext>
                </a:extLst>
              </a:tr>
              <a:tr h="370840">
                <a:tc>
                  <a:txBody>
                    <a:bodyPr/>
                    <a:lstStyle/>
                    <a:p>
                      <a:r>
                        <a:rPr lang="en-US" dirty="0"/>
                        <a:t>Logistic Regression</a:t>
                      </a:r>
                      <a:endParaRPr lang="en-IN" dirty="0"/>
                    </a:p>
                  </a:txBody>
                  <a:tcPr/>
                </a:tc>
                <a:tc>
                  <a:txBody>
                    <a:bodyPr/>
                    <a:lstStyle/>
                    <a:p>
                      <a:r>
                        <a:rPr lang="en-US" dirty="0"/>
                        <a:t>80%</a:t>
                      </a:r>
                      <a:endParaRPr lang="en-IN" dirty="0"/>
                    </a:p>
                  </a:txBody>
                  <a:tcPr/>
                </a:tc>
                <a:extLst>
                  <a:ext uri="{0D108BD9-81ED-4DB2-BD59-A6C34878D82A}">
                    <a16:rowId xmlns:a16="http://schemas.microsoft.com/office/drawing/2014/main" val="1125813022"/>
                  </a:ext>
                </a:extLst>
              </a:tr>
              <a:tr h="370840">
                <a:tc>
                  <a:txBody>
                    <a:bodyPr/>
                    <a:lstStyle/>
                    <a:p>
                      <a:r>
                        <a:rPr lang="en-US" dirty="0"/>
                        <a:t>Decision Tree Classifier</a:t>
                      </a:r>
                      <a:endParaRPr lang="en-IN" dirty="0"/>
                    </a:p>
                  </a:txBody>
                  <a:tcPr/>
                </a:tc>
                <a:tc>
                  <a:txBody>
                    <a:bodyPr/>
                    <a:lstStyle/>
                    <a:p>
                      <a:r>
                        <a:rPr lang="en-US"/>
                        <a:t>90%</a:t>
                      </a:r>
                      <a:endParaRPr lang="en-IN" dirty="0"/>
                    </a:p>
                  </a:txBody>
                  <a:tcPr/>
                </a:tc>
                <a:extLst>
                  <a:ext uri="{0D108BD9-81ED-4DB2-BD59-A6C34878D82A}">
                    <a16:rowId xmlns:a16="http://schemas.microsoft.com/office/drawing/2014/main" val="3560552827"/>
                  </a:ext>
                </a:extLst>
              </a:tr>
              <a:tr h="370840">
                <a:tc>
                  <a:txBody>
                    <a:bodyPr/>
                    <a:lstStyle/>
                    <a:p>
                      <a:r>
                        <a:rPr lang="en-US" dirty="0"/>
                        <a:t>KNN</a:t>
                      </a:r>
                      <a:endParaRPr lang="en-IN" dirty="0"/>
                    </a:p>
                  </a:txBody>
                  <a:tcPr/>
                </a:tc>
                <a:tc>
                  <a:txBody>
                    <a:bodyPr/>
                    <a:lstStyle/>
                    <a:p>
                      <a:r>
                        <a:rPr lang="en-US" dirty="0"/>
                        <a:t>77%</a:t>
                      </a:r>
                      <a:endParaRPr lang="en-IN" dirty="0"/>
                    </a:p>
                  </a:txBody>
                  <a:tcPr/>
                </a:tc>
                <a:extLst>
                  <a:ext uri="{0D108BD9-81ED-4DB2-BD59-A6C34878D82A}">
                    <a16:rowId xmlns:a16="http://schemas.microsoft.com/office/drawing/2014/main" val="1556698229"/>
                  </a:ext>
                </a:extLst>
              </a:tr>
              <a:tr h="370840">
                <a:tc>
                  <a:txBody>
                    <a:bodyPr/>
                    <a:lstStyle/>
                    <a:p>
                      <a:r>
                        <a:rPr lang="en-US" dirty="0"/>
                        <a:t>SVM</a:t>
                      </a:r>
                      <a:endParaRPr lang="en-IN" dirty="0"/>
                    </a:p>
                  </a:txBody>
                  <a:tcPr/>
                </a:tc>
                <a:tc>
                  <a:txBody>
                    <a:bodyPr/>
                    <a:lstStyle/>
                    <a:p>
                      <a:r>
                        <a:rPr lang="en-US" dirty="0"/>
                        <a:t>78%</a:t>
                      </a:r>
                      <a:endParaRPr lang="en-IN" dirty="0"/>
                    </a:p>
                  </a:txBody>
                  <a:tcPr/>
                </a:tc>
                <a:extLst>
                  <a:ext uri="{0D108BD9-81ED-4DB2-BD59-A6C34878D82A}">
                    <a16:rowId xmlns:a16="http://schemas.microsoft.com/office/drawing/2014/main" val="2854873003"/>
                  </a:ext>
                </a:extLst>
              </a:tr>
              <a:tr h="370840">
                <a:tc>
                  <a:txBody>
                    <a:bodyPr/>
                    <a:lstStyle/>
                    <a:p>
                      <a:r>
                        <a:rPr lang="en-US" dirty="0"/>
                        <a:t>Naive Bayes Classifier</a:t>
                      </a:r>
                      <a:endParaRPr lang="en-IN" dirty="0"/>
                    </a:p>
                  </a:txBody>
                  <a:tcPr/>
                </a:tc>
                <a:tc>
                  <a:txBody>
                    <a:bodyPr/>
                    <a:lstStyle/>
                    <a:p>
                      <a:r>
                        <a:rPr lang="en-US" dirty="0"/>
                        <a:t>79%</a:t>
                      </a:r>
                      <a:endParaRPr lang="en-IN" dirty="0"/>
                    </a:p>
                  </a:txBody>
                  <a:tcPr/>
                </a:tc>
                <a:extLst>
                  <a:ext uri="{0D108BD9-81ED-4DB2-BD59-A6C34878D82A}">
                    <a16:rowId xmlns:a16="http://schemas.microsoft.com/office/drawing/2014/main" val="1577097737"/>
                  </a:ext>
                </a:extLst>
              </a:tr>
            </a:tbl>
          </a:graphicData>
        </a:graphic>
      </p:graphicFrame>
    </p:spTree>
    <p:extLst>
      <p:ext uri="{BB962C8B-B14F-4D97-AF65-F5344CB8AC3E}">
        <p14:creationId xmlns:p14="http://schemas.microsoft.com/office/powerpoint/2010/main" val="3156071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7A3F9-3B5D-4524-521E-E4D019C8BEAC}"/>
              </a:ext>
            </a:extLst>
          </p:cNvPr>
          <p:cNvSpPr txBox="1"/>
          <p:nvPr/>
        </p:nvSpPr>
        <p:spPr>
          <a:xfrm>
            <a:off x="694482" y="613459"/>
            <a:ext cx="3509872" cy="584775"/>
          </a:xfrm>
          <a:prstGeom prst="rect">
            <a:avLst/>
          </a:prstGeom>
          <a:noFill/>
        </p:spPr>
        <p:txBody>
          <a:bodyPr wrap="none" rtlCol="0">
            <a:spAutoFit/>
          </a:bodyPr>
          <a:lstStyle/>
          <a:p>
            <a:r>
              <a:rPr lang="en-US" sz="3200" dirty="0"/>
              <a:t>Recommendation</a:t>
            </a:r>
            <a:endParaRPr lang="en-IN" sz="3200" dirty="0"/>
          </a:p>
        </p:txBody>
      </p:sp>
      <p:sp>
        <p:nvSpPr>
          <p:cNvPr id="2" name="TextBox 1">
            <a:extLst>
              <a:ext uri="{FF2B5EF4-FFF2-40B4-BE49-F238E27FC236}">
                <a16:creationId xmlns:a16="http://schemas.microsoft.com/office/drawing/2014/main" id="{C47755C5-EBAC-EAF4-8E91-D094E9038D0D}"/>
              </a:ext>
            </a:extLst>
          </p:cNvPr>
          <p:cNvSpPr txBox="1"/>
          <p:nvPr/>
        </p:nvSpPr>
        <p:spPr>
          <a:xfrm>
            <a:off x="821803" y="1720840"/>
            <a:ext cx="10278318"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Offering better service for the customers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Regular collection of feedback and surveys with the customer will reduce the churn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While taking the any change in plans, it is better to conduct a customer survey, to just predict the positive and negative share of that plan. If it is negative, it is best not to implement.</a:t>
            </a:r>
          </a:p>
          <a:p>
            <a:endParaRPr lang="en-IN" sz="2400" dirty="0"/>
          </a:p>
        </p:txBody>
      </p:sp>
    </p:spTree>
    <p:extLst>
      <p:ext uri="{BB962C8B-B14F-4D97-AF65-F5344CB8AC3E}">
        <p14:creationId xmlns:p14="http://schemas.microsoft.com/office/powerpoint/2010/main" val="2616586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6000" r="-6000"/>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97A3F9-3B5D-4524-521E-E4D019C8BEAC}"/>
              </a:ext>
            </a:extLst>
          </p:cNvPr>
          <p:cNvSpPr txBox="1"/>
          <p:nvPr/>
        </p:nvSpPr>
        <p:spPr>
          <a:xfrm>
            <a:off x="694482" y="613459"/>
            <a:ext cx="2286010" cy="584775"/>
          </a:xfrm>
          <a:prstGeom prst="rect">
            <a:avLst/>
          </a:prstGeom>
          <a:noFill/>
        </p:spPr>
        <p:txBody>
          <a:bodyPr wrap="none" rtlCol="0">
            <a:spAutoFit/>
          </a:bodyPr>
          <a:lstStyle/>
          <a:p>
            <a:r>
              <a:rPr lang="en-US" sz="3200" dirty="0"/>
              <a:t>Conclusion</a:t>
            </a:r>
            <a:endParaRPr lang="en-IN" sz="3200" dirty="0"/>
          </a:p>
        </p:txBody>
      </p:sp>
      <p:sp>
        <p:nvSpPr>
          <p:cNvPr id="2" name="TextBox 1">
            <a:extLst>
              <a:ext uri="{FF2B5EF4-FFF2-40B4-BE49-F238E27FC236}">
                <a16:creationId xmlns:a16="http://schemas.microsoft.com/office/drawing/2014/main" id="{C47755C5-EBAC-EAF4-8E91-D094E9038D0D}"/>
              </a:ext>
            </a:extLst>
          </p:cNvPr>
          <p:cNvSpPr txBox="1"/>
          <p:nvPr/>
        </p:nvSpPr>
        <p:spPr>
          <a:xfrm>
            <a:off x="821803" y="1720840"/>
            <a:ext cx="10278318"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importance of this type of research in the telecom market is to help companies make more profit.</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has become known that predicting churn is one of the most important for Banking Sectors.</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Hence, this research aimed to build a system that predicts the churn of customers i telecom company.</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prediction models need to achieve high values. To test and train the model, the sample data is divided into 80% for training and 20% for testing.</a:t>
            </a:r>
          </a:p>
        </p:txBody>
      </p:sp>
    </p:spTree>
    <p:extLst>
      <p:ext uri="{BB962C8B-B14F-4D97-AF65-F5344CB8AC3E}">
        <p14:creationId xmlns:p14="http://schemas.microsoft.com/office/powerpoint/2010/main" val="1958178780"/>
      </p:ext>
    </p:extLst>
  </p:cSld>
  <p:clrMapOvr>
    <a:masterClrMapping/>
  </p:clrMapOvr>
</p:sld>
</file>

<file path=ppt/theme/theme1.xml><?xml version="1.0" encoding="utf-8"?>
<a:theme xmlns:a="http://schemas.openxmlformats.org/drawingml/2006/main" name="DappledVTI">
  <a:themeElements>
    <a:clrScheme name="AnalogousFromDarkSeedLeftStep">
      <a:dk1>
        <a:srgbClr val="000000"/>
      </a:dk1>
      <a:lt1>
        <a:srgbClr val="FFFFFF"/>
      </a:lt1>
      <a:dk2>
        <a:srgbClr val="1A1634"/>
      </a:dk2>
      <a:lt2>
        <a:srgbClr val="F0F3F3"/>
      </a:lt2>
      <a:accent1>
        <a:srgbClr val="E72950"/>
      </a:accent1>
      <a:accent2>
        <a:srgbClr val="D5178E"/>
      </a:accent2>
      <a:accent3>
        <a:srgbClr val="DF29E7"/>
      </a:accent3>
      <a:accent4>
        <a:srgbClr val="7E17D5"/>
      </a:accent4>
      <a:accent5>
        <a:srgbClr val="4129E7"/>
      </a:accent5>
      <a:accent6>
        <a:srgbClr val="174ED5"/>
      </a:accent6>
      <a:hlink>
        <a:srgbClr val="7351C5"/>
      </a:hlink>
      <a:folHlink>
        <a:srgbClr val="7F7F7F"/>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otalTime>463</TotalTime>
  <Words>669</Words>
  <Application>Microsoft Office PowerPoint</Application>
  <PresentationFormat>Widescreen</PresentationFormat>
  <Paragraphs>62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Avenir Next LT Pro</vt:lpstr>
      <vt:lpstr>AvenirNext LT Pro Medium</vt:lpstr>
      <vt:lpstr>Calibri</vt:lpstr>
      <vt:lpstr>Sabon Next LT</vt:lpstr>
      <vt:lpstr>Times New Roman</vt:lpstr>
      <vt:lpstr>DappledVTI</vt:lpstr>
      <vt:lpstr>MACHINE LEARNING MODEL FOR CUSTOMER CHURN PREDICTION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MODEL FOR CUSTOMER CHURN PREDICTION</dc:title>
  <dc:creator>Bethu Manohar</dc:creator>
  <cp:lastModifiedBy>Manu Bethu</cp:lastModifiedBy>
  <cp:revision>3</cp:revision>
  <dcterms:created xsi:type="dcterms:W3CDTF">2024-05-12T18:09:51Z</dcterms:created>
  <dcterms:modified xsi:type="dcterms:W3CDTF">2024-05-13T01:53:23Z</dcterms:modified>
</cp:coreProperties>
</file>